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9" r:id="rId4"/>
    <p:sldId id="260" r:id="rId5"/>
    <p:sldId id="261" r:id="rId6"/>
    <p:sldId id="262" r:id="rId7"/>
    <p:sldId id="263" r:id="rId8"/>
    <p:sldId id="264" r:id="rId9"/>
    <p:sldId id="265" r:id="rId10"/>
    <p:sldId id="258" r:id="rId11"/>
  </p:sldIdLst>
  <p:sldSz cx="12192000" cy="6858000"/>
  <p:notesSz cx="6858000" cy="12192000"/>
  <p:embeddedFontLst>
    <p:embeddedFont>
      <p:font typeface="DM Sans" pitchFamily="2" charset="77"/>
      <p:regular r:id="rId13"/>
      <p:bold r:id="rId14"/>
    </p:embeddedFont>
    <p:embeddedFont>
      <p:font typeface="Fredoka" charset="0"/>
      <p:regular r:id="rId15"/>
      <p:bold r:id="rId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45F4404A-2C89-084C-8AA7-6275703A27DE}" type="datetimeFigureOut">
              <a:rPr lang="en-US" smtClean="0"/>
              <a:t>10/22/26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7419DB92-7242-EC45-ADC5-4A9A90AF566F}" type="slidenum">
              <a:rPr lang="en-US" smtClean="0"/>
              <a:t>‹#›</a:t>
            </a:fld>
            <a:endParaRPr lang="en-US"/>
          </a:p>
        </p:txBody>
      </p:sp>
    </p:spTree>
    <p:extLst>
      <p:ext uri="{BB962C8B-B14F-4D97-AF65-F5344CB8AC3E}">
        <p14:creationId xmlns:p14="http://schemas.microsoft.com/office/powerpoint/2010/main" val="33234933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in one line, then the question: how did a gummy sweet become one of M&amp;S Food's most valuable assets? Say you will answer it in three parts: character, range and loyalty, then finish with what M&amp;S can learn.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structure. Everything after this slide answers the question through character, range and loyalty. Then international growth, then what M&amp;S can learn.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numbers. The 20 million packs figure is described as reported, and the 400 million sweets and 50+ items come from coverage around Percy’s 30th birthday, so say they are as reported then rather than today’s live figures.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is that Percy works like a brand character with his own social channels, advertising and tourist-style moments, not just a sweet on a shelf. The closing line is my interpretation of that evidence.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strength here is discipline. The range grows into new categories, but the sweets stay the core. Paraphrase the Marketing Week point about NPD being a big part of the growth strategy rather than reading it out.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Swizzels dispute shows how seriously M&amp;S treats the brand. The gelatine-free change widens who can buy it. The closing line is my interpretation.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M&amp;S said its social channels were flooded with customers asking when M&amp;S Food, including Percy Pig, would reach Australia. The last line is my interpretation of that demand.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my own recommendations, not M&amp;S's stated plans. Connect the third one to the Commercial track: analysing customer data to plan ranges and forecast demand. Finish by saying you would love to help build the next Percy.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as reported in these sources at the time. Check for newer numbers before presenting.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2A152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365250"/>
            <a:ext cx="10566400" cy="501650"/>
          </a:xfrm>
          <a:prstGeom prst="rect">
            <a:avLst/>
          </a:prstGeom>
          <a:noFill/>
          <a:ln/>
        </p:spPr>
        <p:txBody>
          <a:bodyPr wrap="square" lIns="0" tIns="0" rIns="0" bIns="0" rtlCol="0" anchor="t"/>
          <a:lstStyle>
            <a:lvl1pPr marL="0" indent="0" algn="l">
              <a:lnSpc>
                <a:spcPct val="115000"/>
              </a:lnSpc>
              <a:buNone/>
              <a:defRPr lang="en-US" sz="3600" dirty="0">
                <a:solidFill>
                  <a:srgbClr val="FFF5F7"/>
                </a:solidFill>
                <a:latin typeface="Fredoka" pitchFamily="34" charset="0"/>
                <a:ea typeface="Fredoka" pitchFamily="34" charset="-122"/>
                <a:cs typeface="Fredoka"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2171700"/>
            <a:ext cx="10566400" cy="3873500"/>
          </a:xfrm>
          <a:prstGeom prst="rect">
            <a:avLst/>
          </a:prstGeom>
          <a:noFill/>
          <a:ln/>
        </p:spPr>
        <p:txBody>
          <a:bodyPr wrap="square" lIns="0" tIns="0" rIns="0" bIns="0" rtlCol="0" anchor="t"/>
          <a:lstStyle>
            <a:lvl1pPr marL="0" indent="0" algn="l">
              <a:lnSpc>
                <a:spcPct val="140000"/>
              </a:lnSpc>
              <a:buNone/>
              <a:defRPr lang="en-US" sz="1600" dirty="0">
                <a:solidFill>
                  <a:srgbClr val="FFE3EC"/>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2A152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365250"/>
            <a:ext cx="10566400" cy="501650"/>
          </a:xfrm>
          <a:prstGeom prst="rect">
            <a:avLst/>
          </a:prstGeom>
          <a:noFill/>
          <a:ln/>
        </p:spPr>
        <p:txBody>
          <a:bodyPr wrap="square" lIns="0" tIns="0" rIns="0" bIns="0" rtlCol="0" anchor="t"/>
          <a:lstStyle>
            <a:lvl1pPr marL="0" indent="0" algn="l">
              <a:lnSpc>
                <a:spcPct val="115000"/>
              </a:lnSpc>
              <a:buNone/>
              <a:defRPr lang="en-US" sz="3600" dirty="0">
                <a:solidFill>
                  <a:srgbClr val="FFF5F7"/>
                </a:solidFill>
                <a:latin typeface="Fredoka" pitchFamily="34" charset="0"/>
                <a:ea typeface="Fredoka" pitchFamily="34" charset="-122"/>
                <a:cs typeface="Fredoka"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2171700"/>
            <a:ext cx="10566400" cy="3873500"/>
          </a:xfrm>
          <a:prstGeom prst="rect">
            <a:avLst/>
          </a:prstGeom>
          <a:noFill/>
          <a:ln/>
        </p:spPr>
        <p:txBody>
          <a:bodyPr wrap="square" lIns="0" tIns="0" rIns="0" bIns="0" rtlCol="0" anchor="t"/>
          <a:lstStyle>
            <a:lvl1pPr marL="0" indent="0" algn="l">
              <a:lnSpc>
                <a:spcPct val="140000"/>
              </a:lnSpc>
              <a:buNone/>
              <a:defRPr lang="en-US" sz="1600" dirty="0">
                <a:solidFill>
                  <a:srgbClr val="FFE3EC"/>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hyperlink" Target="https://en.wikipedia.org/wiki/Percy_Pig" TargetMode="External"/><Relationship Id="rId3" Type="http://schemas.openxmlformats.org/officeDocument/2006/relationships/hyperlink" Target="https://www.creativereview.co.uk/oral-history-percy-pig-marks-and-spencer/" TargetMode="External"/><Relationship Id="rId7" Type="http://schemas.openxmlformats.org/officeDocument/2006/relationships/hyperlink" Target="https://guardian.pressreader.com/article/281874417805310"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hyperlink" Target="https://www.retailgazette.co.uk/blog/2023/06/ms-resolves-percy-pig-swizzels" TargetMode="External"/><Relationship Id="rId11" Type="http://schemas.openxmlformats.org/officeDocument/2006/relationships/hyperlink" Target="https://esmmagazine.com/retail/ms-to-sell-percy-pig-and-other-products-in-over-150-countries-143676" TargetMode="External"/><Relationship Id="rId5" Type="http://schemas.openxmlformats.org/officeDocument/2006/relationships/hyperlink" Target="https://www.marketingweek.com/marks-spencer-percy-pig-collaboration/" TargetMode="External"/><Relationship Id="rId10" Type="http://schemas.openxmlformats.org/officeDocument/2006/relationships/hyperlink" Target="https://retailtimes.co.uk/marks-spencer-food-goes-down-under-launching-in-coles-supermarkets-across-australia/" TargetMode="External"/><Relationship Id="rId4" Type="http://schemas.openxmlformats.org/officeDocument/2006/relationships/hyperlink" Target="https://www.thestar.co.uk/business/consumer/percy-pig-turns-30-and-heres-how-he-is-celebrating-3726171" TargetMode="External"/><Relationship Id="rId9" Type="http://schemas.openxmlformats.org/officeDocument/2006/relationships/hyperlink" Target="https://www.esmmagazine.com/retail/marks-spencer-to-launch-food-range-in-australia-with-coles-300366"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A1520"/>
        </a:solidFill>
        <a:effectLst/>
      </p:bgPr>
    </p:bg>
    <p:spTree>
      <p:nvGrpSpPr>
        <p:cNvPr id="1" name=""/>
        <p:cNvGrpSpPr/>
        <p:nvPr/>
      </p:nvGrpSpPr>
      <p:grpSpPr>
        <a:xfrm>
          <a:off x="0" y="0"/>
          <a:ext cx="0" cy="0"/>
          <a:chOff x="0" y="0"/>
          <a:chExt cx="0" cy="0"/>
        </a:xfrm>
      </p:grpSpPr>
      <p:sp>
        <p:nvSpPr>
          <p:cNvPr id="2" name="Text 0"/>
          <p:cNvSpPr/>
          <p:nvPr/>
        </p:nvSpPr>
        <p:spPr>
          <a:xfrm>
            <a:off x="812800" y="2165350"/>
            <a:ext cx="10883392" cy="304800"/>
          </a:xfrm>
          <a:prstGeom prst="rect">
            <a:avLst/>
          </a:prstGeom>
          <a:noFill/>
          <a:ln/>
        </p:spPr>
        <p:txBody>
          <a:bodyPr wrap="square" lIns="0" tIns="0" rIns="0" bIns="0" rtlCol="0" anchor="t">
            <a:normAutofit/>
          </a:bodyPr>
          <a:lstStyle/>
          <a:p>
            <a:pPr marL="0" indent="0" algn="l">
              <a:lnSpc>
                <a:spcPts val="2240"/>
              </a:lnSpc>
              <a:buNone/>
            </a:pPr>
            <a:r>
              <a:rPr lang="en-US" sz="1600" b="1" kern="0" spc="200" dirty="0">
                <a:solidFill>
                  <a:srgbClr val="FF8FB1"/>
                </a:solidFill>
                <a:latin typeface="DM Sans" pitchFamily="34" charset="0"/>
                <a:ea typeface="DM Sans" pitchFamily="34" charset="-122"/>
                <a:cs typeface="DM Sans" pitchFamily="34" charset="-120"/>
              </a:rPr>
              <a:t>BRAND CASE STUDY</a:t>
            </a:r>
            <a:endParaRPr lang="en-US" sz="1600" dirty="0"/>
          </a:p>
        </p:txBody>
      </p:sp>
      <p:sp>
        <p:nvSpPr>
          <p:cNvPr id="3" name="Text 1"/>
          <p:cNvSpPr>
            <a:spLocks noGrp="1"/>
          </p:cNvSpPr>
          <p:nvPr>
            <p:ph type="title"/>
          </p:nvPr>
        </p:nvSpPr>
        <p:spPr>
          <a:xfrm>
            <a:off x="812800" y="2698750"/>
            <a:ext cx="10883392" cy="825500"/>
          </a:xfrm>
          <a:prstGeom prst="rect">
            <a:avLst/>
          </a:prstGeom>
          <a:noFill/>
          <a:ln/>
        </p:spPr>
        <p:txBody>
          <a:bodyPr wrap="square" lIns="0" tIns="0" rIns="0" bIns="0" rtlCol="0" anchor="t">
            <a:normAutofit/>
          </a:bodyPr>
          <a:lstStyle/>
          <a:p>
            <a:pPr marL="0" indent="0" algn="l">
              <a:lnSpc>
                <a:spcPts val="6300"/>
              </a:lnSpc>
              <a:buNone/>
            </a:pPr>
            <a:r>
              <a:rPr lang="en-US" sz="6000" b="1" i="0" dirty="0">
                <a:solidFill>
                  <a:srgbClr val="FFF5F7"/>
                </a:solidFill>
                <a:latin typeface="Fredoka" pitchFamily="34" charset="0"/>
                <a:ea typeface="Fredoka" pitchFamily="34" charset="-122"/>
                <a:cs typeface="Fredoka" pitchFamily="34" charset="-120"/>
              </a:rPr>
              <a:t>Why Percy Pig Works</a:t>
            </a:r>
            <a:endParaRPr lang="en-US" sz="6000" dirty="0"/>
          </a:p>
        </p:txBody>
      </p:sp>
      <p:sp>
        <p:nvSpPr>
          <p:cNvPr id="4" name="Text 2"/>
          <p:cNvSpPr/>
          <p:nvPr/>
        </p:nvSpPr>
        <p:spPr>
          <a:xfrm>
            <a:off x="812800" y="3752850"/>
            <a:ext cx="10883392" cy="431800"/>
          </a:xfrm>
          <a:prstGeom prst="rect">
            <a:avLst/>
          </a:prstGeom>
          <a:noFill/>
          <a:ln/>
        </p:spPr>
        <p:txBody>
          <a:bodyPr wrap="square" lIns="0" tIns="0" rIns="0" bIns="0" rtlCol="0" anchor="t">
            <a:normAutofit/>
          </a:bodyPr>
          <a:lstStyle/>
          <a:p>
            <a:pPr marL="0" indent="0" algn="l">
              <a:lnSpc>
                <a:spcPts val="3220"/>
              </a:lnSpc>
              <a:buNone/>
            </a:pPr>
            <a:r>
              <a:rPr lang="en-US" sz="2800" dirty="0">
                <a:solidFill>
                  <a:srgbClr val="FFD3E1"/>
                </a:solidFill>
                <a:latin typeface="Fredoka" pitchFamily="34" charset="0"/>
                <a:ea typeface="Fredoka" pitchFamily="34" charset="-122"/>
                <a:cs typeface="Fredoka" pitchFamily="34" charset="-120"/>
              </a:rPr>
              <a:t>How M&amp;S turned a sweet into a brand</a:t>
            </a:r>
            <a:endParaRPr lang="en-US" sz="2800" dirty="0"/>
          </a:p>
        </p:txBody>
      </p:sp>
      <p:sp>
        <p:nvSpPr>
          <p:cNvPr id="5" name="Text 3"/>
          <p:cNvSpPr/>
          <p:nvPr/>
        </p:nvSpPr>
        <p:spPr>
          <a:xfrm>
            <a:off x="812800" y="4413250"/>
            <a:ext cx="10883392" cy="30480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E8C3D0"/>
                </a:solidFill>
                <a:latin typeface="DM Sans" pitchFamily="34" charset="0"/>
                <a:ea typeface="DM Sans" pitchFamily="34" charset="-122"/>
                <a:cs typeface="DM Sans" pitchFamily="34" charset="-120"/>
              </a:rPr>
              <a:t>Eila Hemmings | October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5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3050"/>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C2255C"/>
                </a:solidFill>
                <a:latin typeface="DM Sans" pitchFamily="34" charset="0"/>
                <a:ea typeface="DM Sans" pitchFamily="34" charset="-122"/>
                <a:cs typeface="DM Sans" pitchFamily="34" charset="-120"/>
              </a:rPr>
              <a:t>THE QUESTION</a:t>
            </a:r>
            <a:endParaRPr lang="en-US" sz="1400" dirty="0"/>
          </a:p>
        </p:txBody>
      </p:sp>
      <p:sp>
        <p:nvSpPr>
          <p:cNvPr id="3" name="Text 1"/>
          <p:cNvSpPr>
            <a:spLocks noGrp="1"/>
          </p:cNvSpPr>
          <p:nvPr>
            <p:ph type="title"/>
          </p:nvPr>
        </p:nvSpPr>
        <p:spPr>
          <a:xfrm>
            <a:off x="812800" y="1365250"/>
            <a:ext cx="10883392" cy="52705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2A1520"/>
                </a:solidFill>
                <a:latin typeface="Fredoka" pitchFamily="34" charset="0"/>
                <a:ea typeface="Fredoka" pitchFamily="34" charset="-122"/>
                <a:cs typeface="Fredoka" pitchFamily="34" charset="-120"/>
              </a:rPr>
              <a:t>Why does one sweet become a brand?</a:t>
            </a:r>
            <a:endParaRPr lang="en-US" sz="3600" dirty="0"/>
          </a:p>
        </p:txBody>
      </p:sp>
      <p:sp>
        <p:nvSpPr>
          <p:cNvPr id="4" name="Text 2"/>
          <p:cNvSpPr/>
          <p:nvPr/>
        </p:nvSpPr>
        <p:spPr>
          <a:xfrm>
            <a:off x="812800" y="2171700"/>
            <a:ext cx="9156700" cy="66040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5E3F4C"/>
                </a:solidFill>
                <a:latin typeface="DM Sans" pitchFamily="34" charset="0"/>
                <a:ea typeface="DM Sans" pitchFamily="34" charset="-122"/>
                <a:cs typeface="DM Sans" pitchFamily="34" charset="-120"/>
              </a:rPr>
              <a:t>Percy Pig began in the early 1990s as a piggy-shaped gummy sweet. Today he is described as one of M&amp;S Food’s most valuable assets. Three things explain why.</a:t>
            </a:r>
            <a:endParaRPr lang="en-US" sz="1800" dirty="0"/>
          </a:p>
        </p:txBody>
      </p:sp>
      <p:sp>
        <p:nvSpPr>
          <p:cNvPr id="5" name="Shape 3"/>
          <p:cNvSpPr/>
          <p:nvPr/>
        </p:nvSpPr>
        <p:spPr>
          <a:xfrm>
            <a:off x="815975" y="3114675"/>
            <a:ext cx="3380284" cy="1454150"/>
          </a:xfrm>
          <a:prstGeom prst="roundRect">
            <a:avLst>
              <a:gd name="adj" fmla="val 6769"/>
            </a:avLst>
          </a:prstGeom>
          <a:solidFill>
            <a:srgbClr val="FFFFFF"/>
          </a:solidFill>
          <a:ln w="6350">
            <a:solidFill>
              <a:srgbClr val="F3C9D6"/>
            </a:solidFill>
            <a:prstDash val="solid"/>
          </a:ln>
        </p:spPr>
      </p:sp>
      <p:sp>
        <p:nvSpPr>
          <p:cNvPr id="6" name="Text 4"/>
          <p:cNvSpPr/>
          <p:nvPr/>
        </p:nvSpPr>
        <p:spPr>
          <a:xfrm>
            <a:off x="1073150" y="3371850"/>
            <a:ext cx="2951912" cy="35560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C2255C"/>
                </a:solidFill>
                <a:latin typeface="Fredoka" pitchFamily="34" charset="0"/>
                <a:ea typeface="Fredoka" pitchFamily="34" charset="-122"/>
                <a:cs typeface="Fredoka" pitchFamily="34" charset="-120"/>
              </a:rPr>
              <a:t>1. Character</a:t>
            </a:r>
            <a:endParaRPr lang="en-US" sz="2200" dirty="0"/>
          </a:p>
        </p:txBody>
      </p:sp>
      <p:sp>
        <p:nvSpPr>
          <p:cNvPr id="7" name="Text 5"/>
          <p:cNvSpPr/>
          <p:nvPr/>
        </p:nvSpPr>
        <p:spPr>
          <a:xfrm>
            <a:off x="1073150" y="3778250"/>
            <a:ext cx="2951912"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5E3F4C"/>
                </a:solidFill>
                <a:latin typeface="DM Sans" pitchFamily="34" charset="0"/>
                <a:ea typeface="DM Sans" pitchFamily="34" charset="-122"/>
                <a:cs typeface="DM Sans" pitchFamily="34" charset="-120"/>
              </a:rPr>
              <a:t>People connect with a personality, not a pack.</a:t>
            </a:r>
            <a:endParaRPr lang="en-US" sz="1500" dirty="0"/>
          </a:p>
        </p:txBody>
      </p:sp>
      <p:sp>
        <p:nvSpPr>
          <p:cNvPr id="8" name="Shape 6"/>
          <p:cNvSpPr/>
          <p:nvPr/>
        </p:nvSpPr>
        <p:spPr>
          <a:xfrm>
            <a:off x="4405809" y="3114675"/>
            <a:ext cx="3380284" cy="1454150"/>
          </a:xfrm>
          <a:prstGeom prst="roundRect">
            <a:avLst>
              <a:gd name="adj" fmla="val 6769"/>
            </a:avLst>
          </a:prstGeom>
          <a:solidFill>
            <a:srgbClr val="FFFFFF"/>
          </a:solidFill>
          <a:ln w="6350">
            <a:solidFill>
              <a:srgbClr val="F3C9D6"/>
            </a:solidFill>
            <a:prstDash val="solid"/>
          </a:ln>
        </p:spPr>
      </p:sp>
      <p:sp>
        <p:nvSpPr>
          <p:cNvPr id="9" name="Text 7"/>
          <p:cNvSpPr/>
          <p:nvPr/>
        </p:nvSpPr>
        <p:spPr>
          <a:xfrm>
            <a:off x="4662984" y="3371850"/>
            <a:ext cx="2951912" cy="35560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C2255C"/>
                </a:solidFill>
                <a:latin typeface="Fredoka" pitchFamily="34" charset="0"/>
                <a:ea typeface="Fredoka" pitchFamily="34" charset="-122"/>
                <a:cs typeface="Fredoka" pitchFamily="34" charset="-120"/>
              </a:rPr>
              <a:t>2. Range</a:t>
            </a:r>
            <a:endParaRPr lang="en-US" sz="2200" dirty="0"/>
          </a:p>
        </p:txBody>
      </p:sp>
      <p:sp>
        <p:nvSpPr>
          <p:cNvPr id="10" name="Text 8"/>
          <p:cNvSpPr/>
          <p:nvPr/>
        </p:nvSpPr>
        <p:spPr>
          <a:xfrm>
            <a:off x="4662984" y="3778250"/>
            <a:ext cx="2951912"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5E3F4C"/>
                </a:solidFill>
                <a:latin typeface="DM Sans" pitchFamily="34" charset="0"/>
                <a:ea typeface="DM Sans" pitchFamily="34" charset="-122"/>
                <a:cs typeface="DM Sans" pitchFamily="34" charset="-120"/>
              </a:rPr>
              <a:t>New products stretch the brand without losing the core.</a:t>
            </a:r>
            <a:endParaRPr lang="en-US" sz="1500" dirty="0"/>
          </a:p>
        </p:txBody>
      </p:sp>
      <p:sp>
        <p:nvSpPr>
          <p:cNvPr id="11" name="Shape 9"/>
          <p:cNvSpPr/>
          <p:nvPr/>
        </p:nvSpPr>
        <p:spPr>
          <a:xfrm>
            <a:off x="7995642" y="3114675"/>
            <a:ext cx="3380284" cy="1454150"/>
          </a:xfrm>
          <a:prstGeom prst="roundRect">
            <a:avLst>
              <a:gd name="adj" fmla="val 6769"/>
            </a:avLst>
          </a:prstGeom>
          <a:solidFill>
            <a:srgbClr val="FFFFFF"/>
          </a:solidFill>
          <a:ln w="6350">
            <a:solidFill>
              <a:srgbClr val="F3C9D6"/>
            </a:solidFill>
            <a:prstDash val="solid"/>
          </a:ln>
        </p:spPr>
      </p:sp>
      <p:sp>
        <p:nvSpPr>
          <p:cNvPr id="12" name="Text 10"/>
          <p:cNvSpPr/>
          <p:nvPr/>
        </p:nvSpPr>
        <p:spPr>
          <a:xfrm>
            <a:off x="8252817" y="3371850"/>
            <a:ext cx="2951912" cy="35560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C2255C"/>
                </a:solidFill>
                <a:latin typeface="Fredoka" pitchFamily="34" charset="0"/>
                <a:ea typeface="Fredoka" pitchFamily="34" charset="-122"/>
                <a:cs typeface="Fredoka" pitchFamily="34" charset="-120"/>
              </a:rPr>
              <a:t>3. Loyalty</a:t>
            </a:r>
            <a:endParaRPr lang="en-US" sz="2200" dirty="0"/>
          </a:p>
        </p:txBody>
      </p:sp>
      <p:sp>
        <p:nvSpPr>
          <p:cNvPr id="13" name="Text 11"/>
          <p:cNvSpPr/>
          <p:nvPr/>
        </p:nvSpPr>
        <p:spPr>
          <a:xfrm>
            <a:off x="8252817" y="3778250"/>
            <a:ext cx="2951912"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5E3F4C"/>
                </a:solidFill>
                <a:latin typeface="DM Sans" pitchFamily="34" charset="0"/>
                <a:ea typeface="DM Sans" pitchFamily="34" charset="-122"/>
                <a:cs typeface="DM Sans" pitchFamily="34" charset="-120"/>
              </a:rPr>
              <a:t>Fans care enough that M&amp;S protects the design.</a:t>
            </a:r>
            <a:endParaRPr lang="en-US" sz="1500" dirty="0"/>
          </a:p>
        </p:txBody>
      </p:sp>
      <p:sp>
        <p:nvSpPr>
          <p:cNvPr id="14" name="Text 12"/>
          <p:cNvSpPr/>
          <p:nvPr/>
        </p:nvSpPr>
        <p:spPr>
          <a:xfrm>
            <a:off x="812800" y="6242050"/>
            <a:ext cx="10883392"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4A58"/>
                </a:solidFill>
                <a:latin typeface="DM Sans" pitchFamily="34" charset="0"/>
                <a:ea typeface="DM Sans" pitchFamily="34" charset="-122"/>
                <a:cs typeface="DM Sans" pitchFamily="34" charset="-120"/>
              </a:rPr>
              <a:t>Source: Creative Review, “An oral history of Percy Pig”</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2A1520"/>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3050"/>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FF8FB1"/>
                </a:solidFill>
                <a:latin typeface="DM Sans" pitchFamily="34" charset="0"/>
                <a:ea typeface="DM Sans" pitchFamily="34" charset="-122"/>
                <a:cs typeface="DM Sans" pitchFamily="34" charset="-120"/>
              </a:rPr>
              <a:t>THE SCALE</a:t>
            </a:r>
            <a:endParaRPr lang="en-US" sz="1400" dirty="0"/>
          </a:p>
        </p:txBody>
      </p:sp>
      <p:sp>
        <p:nvSpPr>
          <p:cNvPr id="3" name="Text 1"/>
          <p:cNvSpPr>
            <a:spLocks noGrp="1"/>
          </p:cNvSpPr>
          <p:nvPr>
            <p:ph type="title"/>
          </p:nvPr>
        </p:nvSpPr>
        <p:spPr>
          <a:xfrm>
            <a:off x="812800" y="1365250"/>
            <a:ext cx="10883392" cy="52705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FF5F7"/>
                </a:solidFill>
                <a:latin typeface="Fredoka" pitchFamily="34" charset="0"/>
                <a:ea typeface="Fredoka" pitchFamily="34" charset="-122"/>
                <a:cs typeface="Fredoka" pitchFamily="34" charset="-120"/>
              </a:rPr>
              <a:t>This is no niche sweet</a:t>
            </a:r>
            <a:endParaRPr lang="en-US" sz="3600" dirty="0"/>
          </a:p>
        </p:txBody>
      </p:sp>
      <p:sp>
        <p:nvSpPr>
          <p:cNvPr id="4" name="Shape 2"/>
          <p:cNvSpPr/>
          <p:nvPr/>
        </p:nvSpPr>
        <p:spPr>
          <a:xfrm>
            <a:off x="819150" y="2178050"/>
            <a:ext cx="3373934" cy="2222500"/>
          </a:xfrm>
          <a:prstGeom prst="roundRect">
            <a:avLst>
              <a:gd name="adj" fmla="val 4286"/>
            </a:avLst>
          </a:prstGeom>
          <a:noFill/>
          <a:ln w="12700">
            <a:solidFill>
              <a:srgbClr val="FF8FB1"/>
            </a:solidFill>
            <a:prstDash val="solid"/>
          </a:ln>
        </p:spPr>
      </p:sp>
      <p:sp>
        <p:nvSpPr>
          <p:cNvPr id="5" name="Text 3"/>
          <p:cNvSpPr/>
          <p:nvPr/>
        </p:nvSpPr>
        <p:spPr>
          <a:xfrm>
            <a:off x="1079500" y="2438400"/>
            <a:ext cx="2938831"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FF8FB1"/>
                </a:solidFill>
                <a:latin typeface="Fredoka" pitchFamily="34" charset="0"/>
                <a:ea typeface="Fredoka" pitchFamily="34" charset="-122"/>
                <a:cs typeface="Fredoka" pitchFamily="34" charset="-120"/>
              </a:rPr>
              <a:t>20m</a:t>
            </a:r>
            <a:endParaRPr lang="en-US" sz="6000" dirty="0"/>
          </a:p>
        </p:txBody>
      </p:sp>
      <p:sp>
        <p:nvSpPr>
          <p:cNvPr id="6" name="Text 4"/>
          <p:cNvSpPr/>
          <p:nvPr/>
        </p:nvSpPr>
        <p:spPr>
          <a:xfrm>
            <a:off x="1079500" y="3302000"/>
            <a:ext cx="2938831" cy="58420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FE3EC"/>
                </a:solidFill>
                <a:latin typeface="DM Sans" pitchFamily="34" charset="0"/>
                <a:ea typeface="DM Sans" pitchFamily="34" charset="-122"/>
                <a:cs typeface="DM Sans" pitchFamily="34" charset="-120"/>
              </a:rPr>
              <a:t>packs sold a year, as reported by Creative Review</a:t>
            </a:r>
            <a:endParaRPr lang="en-US" sz="1600" dirty="0"/>
          </a:p>
        </p:txBody>
      </p:sp>
      <p:sp>
        <p:nvSpPr>
          <p:cNvPr id="7" name="Shape 5"/>
          <p:cNvSpPr/>
          <p:nvPr/>
        </p:nvSpPr>
        <p:spPr>
          <a:xfrm>
            <a:off x="4408984" y="2178050"/>
            <a:ext cx="3373934" cy="2222500"/>
          </a:xfrm>
          <a:prstGeom prst="roundRect">
            <a:avLst>
              <a:gd name="adj" fmla="val 4286"/>
            </a:avLst>
          </a:prstGeom>
          <a:noFill/>
          <a:ln w="12700">
            <a:solidFill>
              <a:srgbClr val="FF8FB1"/>
            </a:solidFill>
            <a:prstDash val="solid"/>
          </a:ln>
        </p:spPr>
      </p:sp>
      <p:sp>
        <p:nvSpPr>
          <p:cNvPr id="8" name="Text 6"/>
          <p:cNvSpPr/>
          <p:nvPr/>
        </p:nvSpPr>
        <p:spPr>
          <a:xfrm>
            <a:off x="4669334" y="2438400"/>
            <a:ext cx="2938831"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FF8FB1"/>
                </a:solidFill>
                <a:latin typeface="Fredoka" pitchFamily="34" charset="0"/>
                <a:ea typeface="Fredoka" pitchFamily="34" charset="-122"/>
                <a:cs typeface="Fredoka" pitchFamily="34" charset="-120"/>
              </a:rPr>
              <a:t>400m</a:t>
            </a:r>
            <a:endParaRPr lang="en-US" sz="6000" dirty="0"/>
          </a:p>
        </p:txBody>
      </p:sp>
      <p:sp>
        <p:nvSpPr>
          <p:cNvPr id="9" name="Text 7"/>
          <p:cNvSpPr/>
          <p:nvPr/>
        </p:nvSpPr>
        <p:spPr>
          <a:xfrm>
            <a:off x="4669334" y="3302000"/>
            <a:ext cx="2938831" cy="30480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FE3EC"/>
                </a:solidFill>
                <a:latin typeface="DM Sans" pitchFamily="34" charset="0"/>
                <a:ea typeface="DM Sans" pitchFamily="34" charset="-122"/>
                <a:cs typeface="DM Sans" pitchFamily="34" charset="-120"/>
              </a:rPr>
              <a:t>individual sweets a year</a:t>
            </a:r>
            <a:endParaRPr lang="en-US" sz="1600" dirty="0"/>
          </a:p>
        </p:txBody>
      </p:sp>
      <p:sp>
        <p:nvSpPr>
          <p:cNvPr id="10" name="Shape 8"/>
          <p:cNvSpPr/>
          <p:nvPr/>
        </p:nvSpPr>
        <p:spPr>
          <a:xfrm>
            <a:off x="7998817" y="2178050"/>
            <a:ext cx="3373934" cy="2222500"/>
          </a:xfrm>
          <a:prstGeom prst="roundRect">
            <a:avLst>
              <a:gd name="adj" fmla="val 4286"/>
            </a:avLst>
          </a:prstGeom>
          <a:noFill/>
          <a:ln w="12700">
            <a:solidFill>
              <a:srgbClr val="FF8FB1"/>
            </a:solidFill>
            <a:prstDash val="solid"/>
          </a:ln>
        </p:spPr>
      </p:sp>
      <p:sp>
        <p:nvSpPr>
          <p:cNvPr id="11" name="Text 9"/>
          <p:cNvSpPr/>
          <p:nvPr/>
        </p:nvSpPr>
        <p:spPr>
          <a:xfrm>
            <a:off x="8259167" y="2438400"/>
            <a:ext cx="2938831"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FF8FB1"/>
                </a:solidFill>
                <a:latin typeface="Fredoka" pitchFamily="34" charset="0"/>
                <a:ea typeface="Fredoka" pitchFamily="34" charset="-122"/>
                <a:cs typeface="Fredoka" pitchFamily="34" charset="-120"/>
              </a:rPr>
              <a:t>50+</a:t>
            </a:r>
            <a:endParaRPr lang="en-US" sz="6000" dirty="0"/>
          </a:p>
        </p:txBody>
      </p:sp>
      <p:sp>
        <p:nvSpPr>
          <p:cNvPr id="12" name="Text 10"/>
          <p:cNvSpPr/>
          <p:nvPr/>
        </p:nvSpPr>
        <p:spPr>
          <a:xfrm>
            <a:off x="8259167" y="3302000"/>
            <a:ext cx="2938831" cy="86360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FE3EC"/>
                </a:solidFill>
                <a:latin typeface="DM Sans" pitchFamily="34" charset="0"/>
                <a:ea typeface="DM Sans" pitchFamily="34" charset="-122"/>
                <a:cs typeface="DM Sans" pitchFamily="34" charset="-120"/>
              </a:rPr>
              <a:t>Percy items on the M&amp;S website, from sweets to bedding</a:t>
            </a:r>
            <a:endParaRPr lang="en-US" sz="1600" dirty="0"/>
          </a:p>
        </p:txBody>
      </p:sp>
      <p:sp>
        <p:nvSpPr>
          <p:cNvPr id="13" name="Text 11"/>
          <p:cNvSpPr/>
          <p:nvPr/>
        </p:nvSpPr>
        <p:spPr>
          <a:xfrm>
            <a:off x="812800" y="4711700"/>
            <a:ext cx="9156700" cy="66040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FFD3E1"/>
                </a:solidFill>
                <a:latin typeface="DM Sans" pitchFamily="34" charset="0"/>
                <a:ea typeface="DM Sans" pitchFamily="34" charset="-122"/>
                <a:cs typeface="DM Sans" pitchFamily="34" charset="-120"/>
              </a:rPr>
              <a:t>A sweet that sells at this scale is no longer a checkout treat. It is a category driver for M&amp;S Food.</a:t>
            </a:r>
            <a:endParaRPr lang="en-US" sz="1800" dirty="0"/>
          </a:p>
        </p:txBody>
      </p:sp>
      <p:sp>
        <p:nvSpPr>
          <p:cNvPr id="14" name="Text 12"/>
          <p:cNvSpPr/>
          <p:nvPr/>
        </p:nvSpPr>
        <p:spPr>
          <a:xfrm>
            <a:off x="812800" y="6242050"/>
            <a:ext cx="10883392"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8C3D0"/>
                </a:solidFill>
                <a:latin typeface="DM Sans" pitchFamily="34" charset="0"/>
                <a:ea typeface="DM Sans" pitchFamily="34" charset="-122"/>
                <a:cs typeface="DM Sans" pitchFamily="34" charset="-120"/>
              </a:rPr>
              <a:t>Sources: Creative Review; The Star (Percy’s 30th birthday coverage)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FF5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3050"/>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C2255C"/>
                </a:solidFill>
                <a:latin typeface="DM Sans" pitchFamily="34" charset="0"/>
                <a:ea typeface="DM Sans" pitchFamily="34" charset="-122"/>
                <a:cs typeface="DM Sans" pitchFamily="34" charset="-120"/>
              </a:rPr>
              <a:t>REASON 1: CHARACTER</a:t>
            </a:r>
            <a:endParaRPr lang="en-US" sz="1400" dirty="0"/>
          </a:p>
        </p:txBody>
      </p:sp>
      <p:sp>
        <p:nvSpPr>
          <p:cNvPr id="3" name="Text 1"/>
          <p:cNvSpPr>
            <a:spLocks noGrp="1"/>
          </p:cNvSpPr>
          <p:nvPr>
            <p:ph type="title"/>
          </p:nvPr>
        </p:nvSpPr>
        <p:spPr>
          <a:xfrm>
            <a:off x="812800" y="1365250"/>
            <a:ext cx="10883392" cy="52705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2A1520"/>
                </a:solidFill>
                <a:latin typeface="Fredoka" pitchFamily="34" charset="0"/>
                <a:ea typeface="Fredoka" pitchFamily="34" charset="-122"/>
                <a:cs typeface="Fredoka" pitchFamily="34" charset="-120"/>
              </a:rPr>
              <a:t>He is a character, not just a product</a:t>
            </a:r>
            <a:endParaRPr lang="en-US" sz="3600" dirty="0"/>
          </a:p>
        </p:txBody>
      </p:sp>
      <p:sp>
        <p:nvSpPr>
          <p:cNvPr id="4" name="Shape 2"/>
          <p:cNvSpPr/>
          <p:nvPr/>
        </p:nvSpPr>
        <p:spPr>
          <a:xfrm>
            <a:off x="815975" y="2174875"/>
            <a:ext cx="3380284" cy="1454150"/>
          </a:xfrm>
          <a:prstGeom prst="roundRect">
            <a:avLst>
              <a:gd name="adj" fmla="val 6769"/>
            </a:avLst>
          </a:prstGeom>
          <a:solidFill>
            <a:srgbClr val="FFFFFF"/>
          </a:solidFill>
          <a:ln w="6350">
            <a:solidFill>
              <a:srgbClr val="F3C9D6"/>
            </a:solidFill>
            <a:prstDash val="solid"/>
          </a:ln>
        </p:spPr>
      </p:sp>
      <p:sp>
        <p:nvSpPr>
          <p:cNvPr id="5" name="Text 3"/>
          <p:cNvSpPr/>
          <p:nvPr/>
        </p:nvSpPr>
        <p:spPr>
          <a:xfrm>
            <a:off x="1073150" y="2432050"/>
            <a:ext cx="2951912" cy="35560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C2255C"/>
                </a:solidFill>
                <a:latin typeface="Fredoka" pitchFamily="34" charset="0"/>
                <a:ea typeface="Fredoka" pitchFamily="34" charset="-122"/>
                <a:cs typeface="Fredoka" pitchFamily="34" charset="-120"/>
              </a:rPr>
              <a:t>2020</a:t>
            </a:r>
            <a:endParaRPr lang="en-US" sz="2200" dirty="0"/>
          </a:p>
        </p:txBody>
      </p:sp>
      <p:sp>
        <p:nvSpPr>
          <p:cNvPr id="6" name="Text 4"/>
          <p:cNvSpPr/>
          <p:nvPr/>
        </p:nvSpPr>
        <p:spPr>
          <a:xfrm>
            <a:off x="1073150" y="2838450"/>
            <a:ext cx="2951912"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5E3F4C"/>
                </a:solidFill>
                <a:latin typeface="DM Sans" pitchFamily="34" charset="0"/>
                <a:ea typeface="DM Sans" pitchFamily="34" charset="-122"/>
                <a:cs typeface="DM Sans" pitchFamily="34" charset="-120"/>
              </a:rPr>
              <a:t>Percy joins TikTok, and his antics rack up millions of views.</a:t>
            </a:r>
            <a:endParaRPr lang="en-US" sz="1500" dirty="0"/>
          </a:p>
        </p:txBody>
      </p:sp>
      <p:sp>
        <p:nvSpPr>
          <p:cNvPr id="7" name="Shape 5"/>
          <p:cNvSpPr/>
          <p:nvPr/>
        </p:nvSpPr>
        <p:spPr>
          <a:xfrm>
            <a:off x="4405809" y="2174875"/>
            <a:ext cx="3380284" cy="1454150"/>
          </a:xfrm>
          <a:prstGeom prst="roundRect">
            <a:avLst>
              <a:gd name="adj" fmla="val 6769"/>
            </a:avLst>
          </a:prstGeom>
          <a:solidFill>
            <a:srgbClr val="FFFFFF"/>
          </a:solidFill>
          <a:ln w="6350">
            <a:solidFill>
              <a:srgbClr val="F3C9D6"/>
            </a:solidFill>
            <a:prstDash val="solid"/>
          </a:ln>
        </p:spPr>
      </p:sp>
      <p:sp>
        <p:nvSpPr>
          <p:cNvPr id="8" name="Text 6"/>
          <p:cNvSpPr/>
          <p:nvPr/>
        </p:nvSpPr>
        <p:spPr>
          <a:xfrm>
            <a:off x="4662984" y="2432050"/>
            <a:ext cx="2951912" cy="35560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C2255C"/>
                </a:solidFill>
                <a:latin typeface="Fredoka" pitchFamily="34" charset="0"/>
                <a:ea typeface="Fredoka" pitchFamily="34" charset="-122"/>
                <a:cs typeface="Fredoka" pitchFamily="34" charset="-120"/>
              </a:rPr>
              <a:t>TV debut</a:t>
            </a:r>
            <a:endParaRPr lang="en-US" sz="2200" dirty="0"/>
          </a:p>
        </p:txBody>
      </p:sp>
      <p:sp>
        <p:nvSpPr>
          <p:cNvPr id="9" name="Text 7"/>
          <p:cNvSpPr/>
          <p:nvPr/>
        </p:nvSpPr>
        <p:spPr>
          <a:xfrm>
            <a:off x="4662984" y="2838450"/>
            <a:ext cx="2951912"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5E3F4C"/>
                </a:solidFill>
                <a:latin typeface="DM Sans" pitchFamily="34" charset="0"/>
                <a:ea typeface="DM Sans" pitchFamily="34" charset="-122"/>
                <a:cs typeface="DM Sans" pitchFamily="34" charset="-120"/>
              </a:rPr>
              <a:t>He stars in the M&amp;S Christmas Food ad, voiced by Tom Holland.</a:t>
            </a:r>
            <a:endParaRPr lang="en-US" sz="1500" dirty="0"/>
          </a:p>
        </p:txBody>
      </p:sp>
      <p:sp>
        <p:nvSpPr>
          <p:cNvPr id="10" name="Shape 8"/>
          <p:cNvSpPr/>
          <p:nvPr/>
        </p:nvSpPr>
        <p:spPr>
          <a:xfrm>
            <a:off x="7995642" y="2174875"/>
            <a:ext cx="3380284" cy="1454150"/>
          </a:xfrm>
          <a:prstGeom prst="roundRect">
            <a:avLst>
              <a:gd name="adj" fmla="val 6769"/>
            </a:avLst>
          </a:prstGeom>
          <a:solidFill>
            <a:srgbClr val="FFFFFF"/>
          </a:solidFill>
          <a:ln w="6350">
            <a:solidFill>
              <a:srgbClr val="F3C9D6"/>
            </a:solidFill>
            <a:prstDash val="solid"/>
          </a:ln>
        </p:spPr>
      </p:sp>
      <p:sp>
        <p:nvSpPr>
          <p:cNvPr id="11" name="Text 9"/>
          <p:cNvSpPr/>
          <p:nvPr/>
        </p:nvSpPr>
        <p:spPr>
          <a:xfrm>
            <a:off x="8252817" y="2432050"/>
            <a:ext cx="2951912" cy="35560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C2255C"/>
                </a:solidFill>
                <a:latin typeface="Fredoka" pitchFamily="34" charset="0"/>
                <a:ea typeface="Fredoka" pitchFamily="34" charset="-122"/>
                <a:cs typeface="Fredoka" pitchFamily="34" charset="-120"/>
              </a:rPr>
              <a:t>30th birthday</a:t>
            </a:r>
            <a:endParaRPr lang="en-US" sz="2200" dirty="0"/>
          </a:p>
        </p:txBody>
      </p:sp>
      <p:sp>
        <p:nvSpPr>
          <p:cNvPr id="12" name="Text 10"/>
          <p:cNvSpPr/>
          <p:nvPr/>
        </p:nvSpPr>
        <p:spPr>
          <a:xfrm>
            <a:off x="8252817" y="2838450"/>
            <a:ext cx="2951912"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5E3F4C"/>
                </a:solidFill>
                <a:latin typeface="DM Sans" pitchFamily="34" charset="0"/>
                <a:ea typeface="DM Sans" pitchFamily="34" charset="-122"/>
                <a:cs typeface="DM Sans" pitchFamily="34" charset="-120"/>
              </a:rPr>
              <a:t>He gets his own pink plaque at the Paddington food hall.</a:t>
            </a:r>
            <a:endParaRPr lang="en-US" sz="1500" dirty="0"/>
          </a:p>
        </p:txBody>
      </p:sp>
      <p:sp>
        <p:nvSpPr>
          <p:cNvPr id="13" name="Text 11"/>
          <p:cNvSpPr/>
          <p:nvPr/>
        </p:nvSpPr>
        <p:spPr>
          <a:xfrm>
            <a:off x="812800" y="3937000"/>
            <a:ext cx="9156700" cy="66040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5E3F4C"/>
                </a:solidFill>
                <a:latin typeface="DM Sans" pitchFamily="34" charset="0"/>
                <a:ea typeface="DM Sans" pitchFamily="34" charset="-122"/>
                <a:cs typeface="DM Sans" pitchFamily="34" charset="-120"/>
              </a:rPr>
              <a:t>A personality gives customers something to follow, share and talk about. A bag of sweets alone does not.</a:t>
            </a:r>
            <a:endParaRPr lang="en-US" sz="1800" dirty="0"/>
          </a:p>
        </p:txBody>
      </p:sp>
      <p:sp>
        <p:nvSpPr>
          <p:cNvPr id="14" name="Text 12"/>
          <p:cNvSpPr/>
          <p:nvPr/>
        </p:nvSpPr>
        <p:spPr>
          <a:xfrm>
            <a:off x="812800" y="6242050"/>
            <a:ext cx="10883392"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4A58"/>
                </a:solidFill>
                <a:latin typeface="DM Sans" pitchFamily="34" charset="0"/>
                <a:ea typeface="DM Sans" pitchFamily="34" charset="-122"/>
                <a:cs typeface="DM Sans" pitchFamily="34" charset="-120"/>
              </a:rPr>
              <a:t>Sources: Creative Review; The Star (Percy’s 30th birthday coverage)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2A1520"/>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3050"/>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FF8FB1"/>
                </a:solidFill>
                <a:latin typeface="DM Sans" pitchFamily="34" charset="0"/>
                <a:ea typeface="DM Sans" pitchFamily="34" charset="-122"/>
                <a:cs typeface="DM Sans" pitchFamily="34" charset="-120"/>
              </a:rPr>
              <a:t>REASON 2: RANGE</a:t>
            </a:r>
            <a:endParaRPr lang="en-US" sz="1400" dirty="0"/>
          </a:p>
        </p:txBody>
      </p:sp>
      <p:sp>
        <p:nvSpPr>
          <p:cNvPr id="3" name="Text 1"/>
          <p:cNvSpPr>
            <a:spLocks noGrp="1"/>
          </p:cNvSpPr>
          <p:nvPr>
            <p:ph type="title"/>
          </p:nvPr>
        </p:nvSpPr>
        <p:spPr>
          <a:xfrm>
            <a:off x="812800" y="1365250"/>
            <a:ext cx="10883392" cy="52705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FF5F7"/>
                </a:solidFill>
                <a:latin typeface="Fredoka" pitchFamily="34" charset="0"/>
                <a:ea typeface="Fredoka" pitchFamily="34" charset="-122"/>
                <a:cs typeface="Fredoka" pitchFamily="34" charset="-120"/>
              </a:rPr>
              <a:t>The range keeps stretching</a:t>
            </a:r>
            <a:endParaRPr lang="en-US" sz="3600" dirty="0"/>
          </a:p>
        </p:txBody>
      </p:sp>
      <p:sp>
        <p:nvSpPr>
          <p:cNvPr id="4" name="Shape 2"/>
          <p:cNvSpPr/>
          <p:nvPr/>
        </p:nvSpPr>
        <p:spPr>
          <a:xfrm>
            <a:off x="819150" y="2178050"/>
            <a:ext cx="3373934" cy="1727200"/>
          </a:xfrm>
          <a:prstGeom prst="roundRect">
            <a:avLst>
              <a:gd name="adj" fmla="val 5515"/>
            </a:avLst>
          </a:prstGeom>
          <a:noFill/>
          <a:ln w="12700">
            <a:solidFill>
              <a:srgbClr val="FF8FB1"/>
            </a:solidFill>
            <a:prstDash val="solid"/>
          </a:ln>
        </p:spPr>
      </p:sp>
      <p:sp>
        <p:nvSpPr>
          <p:cNvPr id="5" name="Text 3"/>
          <p:cNvSpPr/>
          <p:nvPr/>
        </p:nvSpPr>
        <p:spPr>
          <a:xfrm>
            <a:off x="1079500" y="2438400"/>
            <a:ext cx="2938831" cy="35560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FF8FB1"/>
                </a:solidFill>
                <a:latin typeface="Fredoka" pitchFamily="34" charset="0"/>
                <a:ea typeface="Fredoka" pitchFamily="34" charset="-122"/>
                <a:cs typeface="Fredoka" pitchFamily="34" charset="-120"/>
              </a:rPr>
              <a:t>Core sweets</a:t>
            </a:r>
            <a:endParaRPr lang="en-US" sz="2200" dirty="0"/>
          </a:p>
        </p:txBody>
      </p:sp>
      <p:sp>
        <p:nvSpPr>
          <p:cNvPr id="6" name="Text 4"/>
          <p:cNvSpPr/>
          <p:nvPr/>
        </p:nvSpPr>
        <p:spPr>
          <a:xfrm>
            <a:off x="1079500" y="2844800"/>
            <a:ext cx="2938831"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FE3EC"/>
                </a:solidFill>
                <a:latin typeface="DM Sans" pitchFamily="34" charset="0"/>
                <a:ea typeface="DM Sans" pitchFamily="34" charset="-122"/>
                <a:cs typeface="DM Sans" pitchFamily="34" charset="-120"/>
              </a:rPr>
              <a:t>12 types of Percy sweets at his 30th birthday, from Party Time Percy to Percy and Pals.</a:t>
            </a:r>
            <a:endParaRPr lang="en-US" sz="1500" dirty="0"/>
          </a:p>
        </p:txBody>
      </p:sp>
      <p:sp>
        <p:nvSpPr>
          <p:cNvPr id="7" name="Shape 5"/>
          <p:cNvSpPr/>
          <p:nvPr/>
        </p:nvSpPr>
        <p:spPr>
          <a:xfrm>
            <a:off x="4408984" y="2178050"/>
            <a:ext cx="3373934" cy="1727200"/>
          </a:xfrm>
          <a:prstGeom prst="roundRect">
            <a:avLst>
              <a:gd name="adj" fmla="val 5515"/>
            </a:avLst>
          </a:prstGeom>
          <a:noFill/>
          <a:ln w="12700">
            <a:solidFill>
              <a:srgbClr val="FF8FB1"/>
            </a:solidFill>
            <a:prstDash val="solid"/>
          </a:ln>
        </p:spPr>
      </p:sp>
      <p:sp>
        <p:nvSpPr>
          <p:cNvPr id="8" name="Text 6"/>
          <p:cNvSpPr/>
          <p:nvPr/>
        </p:nvSpPr>
        <p:spPr>
          <a:xfrm>
            <a:off x="4669334" y="2438400"/>
            <a:ext cx="2938831" cy="35560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FF8FB1"/>
                </a:solidFill>
                <a:latin typeface="Fredoka" pitchFamily="34" charset="0"/>
                <a:ea typeface="Fredoka" pitchFamily="34" charset="-122"/>
                <a:cs typeface="Fredoka" pitchFamily="34" charset="-120"/>
              </a:rPr>
              <a:t>New categories</a:t>
            </a:r>
            <a:endParaRPr lang="en-US" sz="2200" dirty="0"/>
          </a:p>
        </p:txBody>
      </p:sp>
      <p:sp>
        <p:nvSpPr>
          <p:cNvPr id="9" name="Text 7"/>
          <p:cNvSpPr/>
          <p:nvPr/>
        </p:nvSpPr>
        <p:spPr>
          <a:xfrm>
            <a:off x="4669334" y="2844800"/>
            <a:ext cx="2938831"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FE3EC"/>
                </a:solidFill>
                <a:latin typeface="DM Sans" pitchFamily="34" charset="0"/>
                <a:ea typeface="DM Sans" pitchFamily="34" charset="-122"/>
                <a:cs typeface="DM Sans" pitchFamily="34" charset="-120"/>
              </a:rPr>
              <a:t>Bedding, jigsaws, dog jumpers and baking mixes all carry the Percy name.</a:t>
            </a:r>
            <a:endParaRPr lang="en-US" sz="1500" dirty="0"/>
          </a:p>
        </p:txBody>
      </p:sp>
      <p:sp>
        <p:nvSpPr>
          <p:cNvPr id="10" name="Shape 8"/>
          <p:cNvSpPr/>
          <p:nvPr/>
        </p:nvSpPr>
        <p:spPr>
          <a:xfrm>
            <a:off x="7998817" y="2178050"/>
            <a:ext cx="3373934" cy="1727200"/>
          </a:xfrm>
          <a:prstGeom prst="roundRect">
            <a:avLst>
              <a:gd name="adj" fmla="val 5515"/>
            </a:avLst>
          </a:prstGeom>
          <a:noFill/>
          <a:ln w="12700">
            <a:solidFill>
              <a:srgbClr val="FF8FB1"/>
            </a:solidFill>
            <a:prstDash val="solid"/>
          </a:ln>
        </p:spPr>
      </p:sp>
      <p:sp>
        <p:nvSpPr>
          <p:cNvPr id="11" name="Text 9"/>
          <p:cNvSpPr/>
          <p:nvPr/>
        </p:nvSpPr>
        <p:spPr>
          <a:xfrm>
            <a:off x="8259167" y="2438400"/>
            <a:ext cx="2938831" cy="35560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FF8FB1"/>
                </a:solidFill>
                <a:latin typeface="Fredoka" pitchFamily="34" charset="0"/>
                <a:ea typeface="Fredoka" pitchFamily="34" charset="-122"/>
                <a:cs typeface="Fredoka" pitchFamily="34" charset="-120"/>
              </a:rPr>
              <a:t>Collaborations</a:t>
            </a:r>
            <a:endParaRPr lang="en-US" sz="2200" dirty="0"/>
          </a:p>
        </p:txBody>
      </p:sp>
      <p:sp>
        <p:nvSpPr>
          <p:cNvPr id="12" name="Text 10"/>
          <p:cNvSpPr/>
          <p:nvPr/>
        </p:nvSpPr>
        <p:spPr>
          <a:xfrm>
            <a:off x="8259167" y="2844800"/>
            <a:ext cx="2938831"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FE3EC"/>
                </a:solidFill>
                <a:latin typeface="DM Sans" pitchFamily="34" charset="0"/>
                <a:ea typeface="DM Sans" pitchFamily="34" charset="-122"/>
                <a:cs typeface="DM Sans" pitchFamily="34" charset="-120"/>
              </a:rPr>
              <a:t>A Nails Inc set was pitched at Percy “superfans”.</a:t>
            </a:r>
            <a:endParaRPr lang="en-US" sz="1500" dirty="0"/>
          </a:p>
        </p:txBody>
      </p:sp>
      <p:sp>
        <p:nvSpPr>
          <p:cNvPr id="13" name="Text 11"/>
          <p:cNvSpPr/>
          <p:nvPr/>
        </p:nvSpPr>
        <p:spPr>
          <a:xfrm>
            <a:off x="812800" y="4216400"/>
            <a:ext cx="9156700" cy="66040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FFD3E1"/>
                </a:solidFill>
                <a:latin typeface="DM Sans" pitchFamily="34" charset="0"/>
                <a:ea typeface="DM Sans" pitchFamily="34" charset="-122"/>
                <a:cs typeface="DM Sans" pitchFamily="34" charset="-120"/>
              </a:rPr>
              <a:t>M&amp;S’s stated plan is to explore new categories while protecting and growing the core products.</a:t>
            </a:r>
            <a:endParaRPr lang="en-US" sz="1800" dirty="0"/>
          </a:p>
        </p:txBody>
      </p:sp>
      <p:sp>
        <p:nvSpPr>
          <p:cNvPr id="14" name="Text 12"/>
          <p:cNvSpPr/>
          <p:nvPr/>
        </p:nvSpPr>
        <p:spPr>
          <a:xfrm>
            <a:off x="812800" y="6242050"/>
            <a:ext cx="10883392"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8C3D0"/>
                </a:solidFill>
                <a:latin typeface="DM Sans" pitchFamily="34" charset="0"/>
                <a:ea typeface="DM Sans" pitchFamily="34" charset="-122"/>
                <a:cs typeface="DM Sans" pitchFamily="34" charset="-120"/>
              </a:rPr>
              <a:t>Sources: Marketing Week; The Star (Percy’s 30th birthday coverage)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5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3050"/>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C2255C"/>
                </a:solidFill>
                <a:latin typeface="DM Sans" pitchFamily="34" charset="0"/>
                <a:ea typeface="DM Sans" pitchFamily="34" charset="-122"/>
                <a:cs typeface="DM Sans" pitchFamily="34" charset="-120"/>
              </a:rPr>
              <a:t>REASON 3: LOYALTY</a:t>
            </a:r>
            <a:endParaRPr lang="en-US" sz="1400" dirty="0"/>
          </a:p>
        </p:txBody>
      </p:sp>
      <p:sp>
        <p:nvSpPr>
          <p:cNvPr id="3" name="Text 1"/>
          <p:cNvSpPr>
            <a:spLocks noGrp="1"/>
          </p:cNvSpPr>
          <p:nvPr>
            <p:ph type="title"/>
          </p:nvPr>
        </p:nvSpPr>
        <p:spPr>
          <a:xfrm>
            <a:off x="812800" y="1365250"/>
            <a:ext cx="10883392" cy="52705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2A1520"/>
                </a:solidFill>
                <a:latin typeface="Fredoka" pitchFamily="34" charset="0"/>
                <a:ea typeface="Fredoka" pitchFamily="34" charset="-122"/>
                <a:cs typeface="Fredoka" pitchFamily="34" charset="-120"/>
              </a:rPr>
              <a:t>Fans care, and M&amp;S protects the brand</a:t>
            </a:r>
            <a:endParaRPr lang="en-US" sz="3600" dirty="0"/>
          </a:p>
        </p:txBody>
      </p:sp>
      <p:sp>
        <p:nvSpPr>
          <p:cNvPr id="4" name="Shape 2"/>
          <p:cNvSpPr/>
          <p:nvPr/>
        </p:nvSpPr>
        <p:spPr>
          <a:xfrm>
            <a:off x="815975" y="2174875"/>
            <a:ext cx="3380284" cy="1987550"/>
          </a:xfrm>
          <a:prstGeom prst="roundRect">
            <a:avLst>
              <a:gd name="adj" fmla="val 4952"/>
            </a:avLst>
          </a:prstGeom>
          <a:solidFill>
            <a:srgbClr val="FFFFFF"/>
          </a:solidFill>
          <a:ln w="6350">
            <a:solidFill>
              <a:srgbClr val="F3C9D6"/>
            </a:solidFill>
            <a:prstDash val="solid"/>
          </a:ln>
        </p:spPr>
      </p:sp>
      <p:sp>
        <p:nvSpPr>
          <p:cNvPr id="5" name="Text 3"/>
          <p:cNvSpPr/>
          <p:nvPr/>
        </p:nvSpPr>
        <p:spPr>
          <a:xfrm>
            <a:off x="1073150" y="2432050"/>
            <a:ext cx="2951912" cy="35560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C2255C"/>
                </a:solidFill>
                <a:latin typeface="Fredoka" pitchFamily="34" charset="0"/>
                <a:ea typeface="Fredoka" pitchFamily="34" charset="-122"/>
                <a:cs typeface="Fredoka" pitchFamily="34" charset="-120"/>
              </a:rPr>
              <a:t>Fan devotion</a:t>
            </a:r>
            <a:endParaRPr lang="en-US" sz="2200" dirty="0"/>
          </a:p>
        </p:txBody>
      </p:sp>
      <p:sp>
        <p:nvSpPr>
          <p:cNvPr id="6" name="Text 4"/>
          <p:cNvSpPr/>
          <p:nvPr/>
        </p:nvSpPr>
        <p:spPr>
          <a:xfrm>
            <a:off x="1073150" y="2838450"/>
            <a:ext cx="2951912"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5E3F4C"/>
                </a:solidFill>
                <a:latin typeface="DM Sans" pitchFamily="34" charset="0"/>
                <a:ea typeface="DM Sans" pitchFamily="34" charset="-122"/>
                <a:cs typeface="DM Sans" pitchFamily="34" charset="-120"/>
              </a:rPr>
              <a:t>M&amp;S’s court filing cited a customer who had Percy’s face tattooed.</a:t>
            </a:r>
            <a:endParaRPr lang="en-US" sz="1500" dirty="0"/>
          </a:p>
        </p:txBody>
      </p:sp>
      <p:sp>
        <p:nvSpPr>
          <p:cNvPr id="7" name="Shape 5"/>
          <p:cNvSpPr/>
          <p:nvPr/>
        </p:nvSpPr>
        <p:spPr>
          <a:xfrm>
            <a:off x="4405809" y="2174875"/>
            <a:ext cx="3380284" cy="1987550"/>
          </a:xfrm>
          <a:prstGeom prst="roundRect">
            <a:avLst>
              <a:gd name="adj" fmla="val 4952"/>
            </a:avLst>
          </a:prstGeom>
          <a:solidFill>
            <a:srgbClr val="FFFFFF"/>
          </a:solidFill>
          <a:ln w="6350">
            <a:solidFill>
              <a:srgbClr val="F3C9D6"/>
            </a:solidFill>
            <a:prstDash val="solid"/>
          </a:ln>
        </p:spPr>
      </p:sp>
      <p:sp>
        <p:nvSpPr>
          <p:cNvPr id="8" name="Text 6"/>
          <p:cNvSpPr/>
          <p:nvPr/>
        </p:nvSpPr>
        <p:spPr>
          <a:xfrm>
            <a:off x="4662984" y="2432050"/>
            <a:ext cx="2951912" cy="35560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C2255C"/>
                </a:solidFill>
                <a:latin typeface="Fredoka" pitchFamily="34" charset="0"/>
                <a:ea typeface="Fredoka" pitchFamily="34" charset="-122"/>
                <a:cs typeface="Fredoka" pitchFamily="34" charset="-120"/>
              </a:rPr>
              <a:t>Protected design</a:t>
            </a:r>
            <a:endParaRPr lang="en-US" sz="2200" dirty="0"/>
          </a:p>
        </p:txBody>
      </p:sp>
      <p:sp>
        <p:nvSpPr>
          <p:cNvPr id="9" name="Text 7"/>
          <p:cNvSpPr/>
          <p:nvPr/>
        </p:nvSpPr>
        <p:spPr>
          <a:xfrm>
            <a:off x="4662984" y="2838450"/>
            <a:ext cx="2951912" cy="10922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5E3F4C"/>
                </a:solidFill>
                <a:latin typeface="DM Sans" pitchFamily="34" charset="0"/>
                <a:ea typeface="DM Sans" pitchFamily="34" charset="-122"/>
                <a:cs typeface="DM Sans" pitchFamily="34" charset="-120"/>
              </a:rPr>
              <a:t>Swizzels agreed to redesign a rival sweet after M&amp;S argued shoppers could confuse the two.</a:t>
            </a:r>
            <a:endParaRPr lang="en-US" sz="1500" dirty="0"/>
          </a:p>
        </p:txBody>
      </p:sp>
      <p:sp>
        <p:nvSpPr>
          <p:cNvPr id="10" name="Shape 8"/>
          <p:cNvSpPr/>
          <p:nvPr/>
        </p:nvSpPr>
        <p:spPr>
          <a:xfrm>
            <a:off x="7995642" y="2174875"/>
            <a:ext cx="3380284" cy="1987550"/>
          </a:xfrm>
          <a:prstGeom prst="roundRect">
            <a:avLst>
              <a:gd name="adj" fmla="val 4952"/>
            </a:avLst>
          </a:prstGeom>
          <a:solidFill>
            <a:srgbClr val="FFFFFF"/>
          </a:solidFill>
          <a:ln w="6350">
            <a:solidFill>
              <a:srgbClr val="F3C9D6"/>
            </a:solidFill>
            <a:prstDash val="solid"/>
          </a:ln>
        </p:spPr>
      </p:sp>
      <p:sp>
        <p:nvSpPr>
          <p:cNvPr id="11" name="Text 9"/>
          <p:cNvSpPr/>
          <p:nvPr/>
        </p:nvSpPr>
        <p:spPr>
          <a:xfrm>
            <a:off x="8252817" y="2432050"/>
            <a:ext cx="2951912" cy="35560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C2255C"/>
                </a:solidFill>
                <a:latin typeface="Fredoka" pitchFamily="34" charset="0"/>
                <a:ea typeface="Fredoka" pitchFamily="34" charset="-122"/>
                <a:cs typeface="Fredoka" pitchFamily="34" charset="-120"/>
              </a:rPr>
              <a:t>Inclusive recipe</a:t>
            </a:r>
            <a:endParaRPr lang="en-US" sz="2200" dirty="0"/>
          </a:p>
        </p:txBody>
      </p:sp>
      <p:sp>
        <p:nvSpPr>
          <p:cNvPr id="12" name="Text 10"/>
          <p:cNvSpPr/>
          <p:nvPr/>
        </p:nvSpPr>
        <p:spPr>
          <a:xfrm>
            <a:off x="8252817" y="2838450"/>
            <a:ext cx="2951912"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5E3F4C"/>
                </a:solidFill>
                <a:latin typeface="DM Sans" pitchFamily="34" charset="0"/>
                <a:ea typeface="DM Sans" pitchFamily="34" charset="-122"/>
                <a:cs typeface="DM Sans" pitchFamily="34" charset="-120"/>
              </a:rPr>
              <a:t>Every Percy sweet has been gelatine-free since May 2019.</a:t>
            </a:r>
            <a:endParaRPr lang="en-US" sz="1500" dirty="0"/>
          </a:p>
        </p:txBody>
      </p:sp>
      <p:sp>
        <p:nvSpPr>
          <p:cNvPr id="13" name="Text 11"/>
          <p:cNvSpPr/>
          <p:nvPr/>
        </p:nvSpPr>
        <p:spPr>
          <a:xfrm>
            <a:off x="812800" y="4470400"/>
            <a:ext cx="9156700" cy="66040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5E3F4C"/>
                </a:solidFill>
                <a:latin typeface="DM Sans" pitchFamily="34" charset="0"/>
                <a:ea typeface="DM Sans" pitchFamily="34" charset="-122"/>
                <a:cs typeface="DM Sans" pitchFamily="34" charset="-120"/>
              </a:rPr>
              <a:t>Loyalty this strong is worth defending, and M&amp;S treats the brand’s look as an asset to protect.</a:t>
            </a:r>
            <a:endParaRPr lang="en-US" sz="1800" dirty="0"/>
          </a:p>
        </p:txBody>
      </p:sp>
      <p:sp>
        <p:nvSpPr>
          <p:cNvPr id="14" name="Text 12"/>
          <p:cNvSpPr/>
          <p:nvPr/>
        </p:nvSpPr>
        <p:spPr>
          <a:xfrm>
            <a:off x="812800" y="6242050"/>
            <a:ext cx="10883392"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4A58"/>
                </a:solidFill>
                <a:latin typeface="DM Sans" pitchFamily="34" charset="0"/>
                <a:ea typeface="DM Sans" pitchFamily="34" charset="-122"/>
                <a:cs typeface="DM Sans" pitchFamily="34" charset="-120"/>
              </a:rPr>
              <a:t>Sources: Retail Gazette; The Guardian; Wikipedia</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2A1520"/>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3050"/>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FF8FB1"/>
                </a:solidFill>
                <a:latin typeface="DM Sans" pitchFamily="34" charset="0"/>
                <a:ea typeface="DM Sans" pitchFamily="34" charset="-122"/>
                <a:cs typeface="DM Sans" pitchFamily="34" charset="-120"/>
              </a:rPr>
              <a:t>BEYOND THE UK</a:t>
            </a:r>
            <a:endParaRPr lang="en-US" sz="1400" dirty="0"/>
          </a:p>
        </p:txBody>
      </p:sp>
      <p:sp>
        <p:nvSpPr>
          <p:cNvPr id="3" name="Text 1"/>
          <p:cNvSpPr>
            <a:spLocks noGrp="1"/>
          </p:cNvSpPr>
          <p:nvPr>
            <p:ph type="title"/>
          </p:nvPr>
        </p:nvSpPr>
        <p:spPr>
          <a:xfrm>
            <a:off x="812800" y="1365250"/>
            <a:ext cx="10883392" cy="52705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FF5F7"/>
                </a:solidFill>
                <a:latin typeface="Fredoka" pitchFamily="34" charset="0"/>
                <a:ea typeface="Fredoka" pitchFamily="34" charset="-122"/>
                <a:cs typeface="Fredoka" pitchFamily="34" charset="-120"/>
              </a:rPr>
              <a:t>Percy is going global</a:t>
            </a:r>
            <a:endParaRPr lang="en-US" sz="3600" dirty="0"/>
          </a:p>
        </p:txBody>
      </p:sp>
      <p:sp>
        <p:nvSpPr>
          <p:cNvPr id="4" name="Shape 2"/>
          <p:cNvSpPr/>
          <p:nvPr/>
        </p:nvSpPr>
        <p:spPr>
          <a:xfrm>
            <a:off x="819150" y="2178050"/>
            <a:ext cx="3373934" cy="1727200"/>
          </a:xfrm>
          <a:prstGeom prst="roundRect">
            <a:avLst>
              <a:gd name="adj" fmla="val 5515"/>
            </a:avLst>
          </a:prstGeom>
          <a:noFill/>
          <a:ln w="12700">
            <a:solidFill>
              <a:srgbClr val="FF8FB1"/>
            </a:solidFill>
            <a:prstDash val="solid"/>
          </a:ln>
        </p:spPr>
      </p:sp>
      <p:sp>
        <p:nvSpPr>
          <p:cNvPr id="5" name="Text 3"/>
          <p:cNvSpPr/>
          <p:nvPr/>
        </p:nvSpPr>
        <p:spPr>
          <a:xfrm>
            <a:off x="1079500" y="2438400"/>
            <a:ext cx="2938831" cy="35560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FF8FB1"/>
                </a:solidFill>
                <a:latin typeface="Fredoka" pitchFamily="34" charset="0"/>
                <a:ea typeface="Fredoka" pitchFamily="34" charset="-122"/>
                <a:cs typeface="Fredoka" pitchFamily="34" charset="-120"/>
              </a:rPr>
              <a:t>United States</a:t>
            </a:r>
            <a:endParaRPr lang="en-US" sz="2200" dirty="0"/>
          </a:p>
        </p:txBody>
      </p:sp>
      <p:sp>
        <p:nvSpPr>
          <p:cNvPr id="6" name="Text 4"/>
          <p:cNvSpPr/>
          <p:nvPr/>
        </p:nvSpPr>
        <p:spPr>
          <a:xfrm>
            <a:off x="1079500" y="2844800"/>
            <a:ext cx="2938831"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FE3EC"/>
                </a:solidFill>
                <a:latin typeface="DM Sans" pitchFamily="34" charset="0"/>
                <a:ea typeface="DM Sans" pitchFamily="34" charset="-122"/>
                <a:cs typeface="DM Sans" pitchFamily="34" charset="-120"/>
              </a:rPr>
              <a:t>Over 50,000 bags of Percy Pigs a week sell through Target.</a:t>
            </a:r>
            <a:endParaRPr lang="en-US" sz="1500" dirty="0"/>
          </a:p>
        </p:txBody>
      </p:sp>
      <p:sp>
        <p:nvSpPr>
          <p:cNvPr id="7" name="Shape 5"/>
          <p:cNvSpPr/>
          <p:nvPr/>
        </p:nvSpPr>
        <p:spPr>
          <a:xfrm>
            <a:off x="4408984" y="2178050"/>
            <a:ext cx="3373934" cy="1727200"/>
          </a:xfrm>
          <a:prstGeom prst="roundRect">
            <a:avLst>
              <a:gd name="adj" fmla="val 5515"/>
            </a:avLst>
          </a:prstGeom>
          <a:noFill/>
          <a:ln w="12700">
            <a:solidFill>
              <a:srgbClr val="FF8FB1"/>
            </a:solidFill>
            <a:prstDash val="solid"/>
          </a:ln>
        </p:spPr>
      </p:sp>
      <p:sp>
        <p:nvSpPr>
          <p:cNvPr id="8" name="Text 6"/>
          <p:cNvSpPr/>
          <p:nvPr/>
        </p:nvSpPr>
        <p:spPr>
          <a:xfrm>
            <a:off x="4669334" y="2438400"/>
            <a:ext cx="2938831" cy="35560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FF8FB1"/>
                </a:solidFill>
                <a:latin typeface="Fredoka" pitchFamily="34" charset="0"/>
                <a:ea typeface="Fredoka" pitchFamily="34" charset="-122"/>
                <a:cs typeface="Fredoka" pitchFamily="34" charset="-120"/>
              </a:rPr>
              <a:t>Australia</a:t>
            </a:r>
            <a:endParaRPr lang="en-US" sz="2200" dirty="0"/>
          </a:p>
        </p:txBody>
      </p:sp>
      <p:sp>
        <p:nvSpPr>
          <p:cNvPr id="9" name="Text 7"/>
          <p:cNvSpPr/>
          <p:nvPr/>
        </p:nvSpPr>
        <p:spPr>
          <a:xfrm>
            <a:off x="4669334" y="2844800"/>
            <a:ext cx="2938831"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FE3EC"/>
                </a:solidFill>
                <a:latin typeface="DM Sans" pitchFamily="34" charset="0"/>
                <a:ea typeface="DM Sans" pitchFamily="34" charset="-122"/>
                <a:cs typeface="DM Sans" pitchFamily="34" charset="-120"/>
              </a:rPr>
              <a:t>Percy Pig is part of the M&amp;S Food range now sold in Coles supermarkets.</a:t>
            </a:r>
            <a:endParaRPr lang="en-US" sz="1500" dirty="0"/>
          </a:p>
        </p:txBody>
      </p:sp>
      <p:sp>
        <p:nvSpPr>
          <p:cNvPr id="10" name="Shape 8"/>
          <p:cNvSpPr/>
          <p:nvPr/>
        </p:nvSpPr>
        <p:spPr>
          <a:xfrm>
            <a:off x="7998817" y="2178050"/>
            <a:ext cx="3373934" cy="1727200"/>
          </a:xfrm>
          <a:prstGeom prst="roundRect">
            <a:avLst>
              <a:gd name="adj" fmla="val 5515"/>
            </a:avLst>
          </a:prstGeom>
          <a:noFill/>
          <a:ln w="12700">
            <a:solidFill>
              <a:srgbClr val="FF8FB1"/>
            </a:solidFill>
            <a:prstDash val="solid"/>
          </a:ln>
        </p:spPr>
      </p:sp>
      <p:sp>
        <p:nvSpPr>
          <p:cNvPr id="11" name="Text 9"/>
          <p:cNvSpPr/>
          <p:nvPr/>
        </p:nvSpPr>
        <p:spPr>
          <a:xfrm>
            <a:off x="8259167" y="2438400"/>
            <a:ext cx="2938831" cy="35560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FF8FB1"/>
                </a:solidFill>
                <a:latin typeface="Fredoka" pitchFamily="34" charset="0"/>
                <a:ea typeface="Fredoka" pitchFamily="34" charset="-122"/>
                <a:cs typeface="Fredoka" pitchFamily="34" charset="-120"/>
              </a:rPr>
              <a:t>150+ countries</a:t>
            </a:r>
            <a:endParaRPr lang="en-US" sz="2200" dirty="0"/>
          </a:p>
        </p:txBody>
      </p:sp>
      <p:sp>
        <p:nvSpPr>
          <p:cNvPr id="12" name="Text 10"/>
          <p:cNvSpPr/>
          <p:nvPr/>
        </p:nvSpPr>
        <p:spPr>
          <a:xfrm>
            <a:off x="8259167" y="2844800"/>
            <a:ext cx="2938831"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FE3EC"/>
                </a:solidFill>
                <a:latin typeface="DM Sans" pitchFamily="34" charset="0"/>
                <a:ea typeface="DM Sans" pitchFamily="34" charset="-122"/>
                <a:cs typeface="DM Sans" pitchFamily="34" charset="-120"/>
              </a:rPr>
              <a:t>In 2021, M&amp;S began selling food online to over 150 new countries.</a:t>
            </a:r>
            <a:endParaRPr lang="en-US" sz="1500" dirty="0"/>
          </a:p>
        </p:txBody>
      </p:sp>
      <p:sp>
        <p:nvSpPr>
          <p:cNvPr id="13" name="Text 11"/>
          <p:cNvSpPr/>
          <p:nvPr/>
        </p:nvSpPr>
        <p:spPr>
          <a:xfrm>
            <a:off x="812800" y="4216400"/>
            <a:ext cx="9156700" cy="66040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FFD3E1"/>
                </a:solidFill>
                <a:latin typeface="DM Sans" pitchFamily="34" charset="0"/>
                <a:ea typeface="DM Sans" pitchFamily="34" charset="-122"/>
                <a:cs typeface="DM Sans" pitchFamily="34" charset="-120"/>
              </a:rPr>
              <a:t>Customers abroad asked when Percy would arrive. Strong demand makes him an easy product to export.</a:t>
            </a:r>
            <a:endParaRPr lang="en-US" sz="1800" dirty="0"/>
          </a:p>
        </p:txBody>
      </p:sp>
      <p:sp>
        <p:nvSpPr>
          <p:cNvPr id="14" name="Text 12"/>
          <p:cNvSpPr/>
          <p:nvPr/>
        </p:nvSpPr>
        <p:spPr>
          <a:xfrm>
            <a:off x="812800" y="6242050"/>
            <a:ext cx="10883392"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8C3D0"/>
                </a:solidFill>
                <a:latin typeface="DM Sans" pitchFamily="34" charset="0"/>
                <a:ea typeface="DM Sans" pitchFamily="34" charset="-122"/>
                <a:cs typeface="DM Sans" pitchFamily="34" charset="-120"/>
              </a:rPr>
              <a:t>Sources: ESM Magazine; Retail Times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5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3050"/>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C2255C"/>
                </a:solidFill>
                <a:latin typeface="DM Sans" pitchFamily="34" charset="0"/>
                <a:ea typeface="DM Sans" pitchFamily="34" charset="-122"/>
                <a:cs typeface="DM Sans" pitchFamily="34" charset="-120"/>
              </a:rPr>
              <a:t>MY RECOMMENDATIONS</a:t>
            </a:r>
            <a:endParaRPr lang="en-US" sz="1400" dirty="0"/>
          </a:p>
        </p:txBody>
      </p:sp>
      <p:sp>
        <p:nvSpPr>
          <p:cNvPr id="3" name="Text 1"/>
          <p:cNvSpPr>
            <a:spLocks noGrp="1"/>
          </p:cNvSpPr>
          <p:nvPr>
            <p:ph type="title"/>
          </p:nvPr>
        </p:nvSpPr>
        <p:spPr>
          <a:xfrm>
            <a:off x="812800" y="1365250"/>
            <a:ext cx="10883392" cy="52705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2A1520"/>
                </a:solidFill>
                <a:latin typeface="Fredoka" pitchFamily="34" charset="0"/>
                <a:ea typeface="Fredoka" pitchFamily="34" charset="-122"/>
                <a:cs typeface="Fredoka" pitchFamily="34" charset="-120"/>
              </a:rPr>
              <a:t>What M&amp;S can learn from Percy</a:t>
            </a:r>
            <a:endParaRPr lang="en-US" sz="3600" dirty="0"/>
          </a:p>
        </p:txBody>
      </p:sp>
      <p:sp>
        <p:nvSpPr>
          <p:cNvPr id="4" name="Shape 2"/>
          <p:cNvSpPr/>
          <p:nvPr/>
        </p:nvSpPr>
        <p:spPr>
          <a:xfrm>
            <a:off x="815975" y="2174875"/>
            <a:ext cx="3380284" cy="1720850"/>
          </a:xfrm>
          <a:prstGeom prst="roundRect">
            <a:avLst>
              <a:gd name="adj" fmla="val 5720"/>
            </a:avLst>
          </a:prstGeom>
          <a:solidFill>
            <a:srgbClr val="FFFFFF"/>
          </a:solidFill>
          <a:ln w="6350">
            <a:solidFill>
              <a:srgbClr val="F3C9D6"/>
            </a:solidFill>
            <a:prstDash val="solid"/>
          </a:ln>
        </p:spPr>
      </p:sp>
      <p:sp>
        <p:nvSpPr>
          <p:cNvPr id="5" name="Text 3"/>
          <p:cNvSpPr/>
          <p:nvPr/>
        </p:nvSpPr>
        <p:spPr>
          <a:xfrm>
            <a:off x="1073150" y="2432050"/>
            <a:ext cx="2951912" cy="35560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C2255C"/>
                </a:solidFill>
                <a:latin typeface="Fredoka" pitchFamily="34" charset="0"/>
                <a:ea typeface="Fredoka" pitchFamily="34" charset="-122"/>
                <a:cs typeface="Fredoka" pitchFamily="34" charset="-120"/>
              </a:rPr>
              <a:t>Protect the core</a:t>
            </a:r>
            <a:endParaRPr lang="en-US" sz="2200" dirty="0"/>
          </a:p>
        </p:txBody>
      </p:sp>
      <p:sp>
        <p:nvSpPr>
          <p:cNvPr id="6" name="Text 4"/>
          <p:cNvSpPr/>
          <p:nvPr/>
        </p:nvSpPr>
        <p:spPr>
          <a:xfrm>
            <a:off x="1073150" y="2838450"/>
            <a:ext cx="2951912"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5E3F4C"/>
                </a:solidFill>
                <a:latin typeface="DM Sans" pitchFamily="34" charset="0"/>
                <a:ea typeface="DM Sans" pitchFamily="34" charset="-122"/>
                <a:cs typeface="DM Sans" pitchFamily="34" charset="-120"/>
              </a:rPr>
              <a:t>Keep the sweets’ quality and taste first. Every extension borrows trust from them.</a:t>
            </a:r>
            <a:endParaRPr lang="en-US" sz="1500" dirty="0"/>
          </a:p>
        </p:txBody>
      </p:sp>
      <p:sp>
        <p:nvSpPr>
          <p:cNvPr id="7" name="Shape 5"/>
          <p:cNvSpPr/>
          <p:nvPr/>
        </p:nvSpPr>
        <p:spPr>
          <a:xfrm>
            <a:off x="4405809" y="2174875"/>
            <a:ext cx="3380284" cy="1720850"/>
          </a:xfrm>
          <a:prstGeom prst="roundRect">
            <a:avLst>
              <a:gd name="adj" fmla="val 5720"/>
            </a:avLst>
          </a:prstGeom>
          <a:solidFill>
            <a:srgbClr val="FFFFFF"/>
          </a:solidFill>
          <a:ln w="6350">
            <a:solidFill>
              <a:srgbClr val="F3C9D6"/>
            </a:solidFill>
            <a:prstDash val="solid"/>
          </a:ln>
        </p:spPr>
      </p:sp>
      <p:sp>
        <p:nvSpPr>
          <p:cNvPr id="8" name="Text 6"/>
          <p:cNvSpPr/>
          <p:nvPr/>
        </p:nvSpPr>
        <p:spPr>
          <a:xfrm>
            <a:off x="4662984" y="2432050"/>
            <a:ext cx="2951912" cy="35560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C2255C"/>
                </a:solidFill>
                <a:latin typeface="Fredoka" pitchFamily="34" charset="0"/>
                <a:ea typeface="Fredoka" pitchFamily="34" charset="-122"/>
                <a:cs typeface="Fredoka" pitchFamily="34" charset="-120"/>
              </a:rPr>
              <a:t>Extend with discipline</a:t>
            </a:r>
            <a:endParaRPr lang="en-US" sz="2200" dirty="0"/>
          </a:p>
        </p:txBody>
      </p:sp>
      <p:sp>
        <p:nvSpPr>
          <p:cNvPr id="9" name="Text 7"/>
          <p:cNvSpPr/>
          <p:nvPr/>
        </p:nvSpPr>
        <p:spPr>
          <a:xfrm>
            <a:off x="4662984" y="2838450"/>
            <a:ext cx="2951912"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5E3F4C"/>
                </a:solidFill>
                <a:latin typeface="DM Sans" pitchFamily="34" charset="0"/>
                <a:ea typeface="DM Sans" pitchFamily="34" charset="-122"/>
                <a:cs typeface="DM Sans" pitchFamily="34" charset="-120"/>
              </a:rPr>
              <a:t>Trial new categories as limited editions, and keep only those that fit the brand.</a:t>
            </a:r>
            <a:endParaRPr lang="en-US" sz="1500" dirty="0"/>
          </a:p>
        </p:txBody>
      </p:sp>
      <p:sp>
        <p:nvSpPr>
          <p:cNvPr id="10" name="Shape 8"/>
          <p:cNvSpPr/>
          <p:nvPr/>
        </p:nvSpPr>
        <p:spPr>
          <a:xfrm>
            <a:off x="7995642" y="2174875"/>
            <a:ext cx="3380284" cy="1720850"/>
          </a:xfrm>
          <a:prstGeom prst="roundRect">
            <a:avLst>
              <a:gd name="adj" fmla="val 5720"/>
            </a:avLst>
          </a:prstGeom>
          <a:solidFill>
            <a:srgbClr val="FFFFFF"/>
          </a:solidFill>
          <a:ln w="6350">
            <a:solidFill>
              <a:srgbClr val="F3C9D6"/>
            </a:solidFill>
            <a:prstDash val="solid"/>
          </a:ln>
        </p:spPr>
      </p:sp>
      <p:sp>
        <p:nvSpPr>
          <p:cNvPr id="11" name="Text 9"/>
          <p:cNvSpPr/>
          <p:nvPr/>
        </p:nvSpPr>
        <p:spPr>
          <a:xfrm>
            <a:off x="8252817" y="2432050"/>
            <a:ext cx="2951912" cy="35560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C2255C"/>
                </a:solidFill>
                <a:latin typeface="Fredoka" pitchFamily="34" charset="0"/>
                <a:ea typeface="Fredoka" pitchFamily="34" charset="-122"/>
                <a:cs typeface="Fredoka" pitchFamily="34" charset="-120"/>
              </a:rPr>
              <a:t>Let data decide</a:t>
            </a:r>
            <a:endParaRPr lang="en-US" sz="2200" dirty="0"/>
          </a:p>
        </p:txBody>
      </p:sp>
      <p:sp>
        <p:nvSpPr>
          <p:cNvPr id="12" name="Text 10"/>
          <p:cNvSpPr/>
          <p:nvPr/>
        </p:nvSpPr>
        <p:spPr>
          <a:xfrm>
            <a:off x="8252817" y="2838450"/>
            <a:ext cx="2951912"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5E3F4C"/>
                </a:solidFill>
                <a:latin typeface="DM Sans" pitchFamily="34" charset="0"/>
                <a:ea typeface="DM Sans" pitchFamily="34" charset="-122"/>
                <a:cs typeface="DM Sans" pitchFamily="34" charset="-120"/>
              </a:rPr>
              <a:t>Track which launches add sales rather than just moving them from the core range.</a:t>
            </a:r>
            <a:endParaRPr lang="en-US" sz="1500" dirty="0"/>
          </a:p>
        </p:txBody>
      </p:sp>
      <p:sp>
        <p:nvSpPr>
          <p:cNvPr id="13" name="Text 11"/>
          <p:cNvSpPr/>
          <p:nvPr/>
        </p:nvSpPr>
        <p:spPr>
          <a:xfrm>
            <a:off x="812800" y="4203700"/>
            <a:ext cx="9156700" cy="66040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5E3F4C"/>
                </a:solidFill>
                <a:latin typeface="DM Sans" pitchFamily="34" charset="0"/>
                <a:ea typeface="DM Sans" pitchFamily="34" charset="-122"/>
                <a:cs typeface="DM Sans" pitchFamily="34" charset="-120"/>
              </a:rPr>
              <a:t>Percy works because character, range and loyalty reinforce each other. Other M&amp;S Food brands could follow the same pattern.</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2A1520"/>
        </a:solidFill>
        <a:effectLst/>
      </p:bgPr>
    </p:bg>
    <p:spTree>
      <p:nvGrpSpPr>
        <p:cNvPr id="1" name=""/>
        <p:cNvGrpSpPr/>
        <p:nvPr/>
      </p:nvGrpSpPr>
      <p:grpSpPr>
        <a:xfrm>
          <a:off x="0" y="0"/>
          <a:ext cx="0" cy="0"/>
          <a:chOff x="0" y="0"/>
          <a:chExt cx="0" cy="0"/>
        </a:xfrm>
      </p:grpSpPr>
      <p:sp>
        <p:nvSpPr>
          <p:cNvPr id="3" name="Text 1"/>
          <p:cNvSpPr/>
          <p:nvPr/>
        </p:nvSpPr>
        <p:spPr>
          <a:xfrm>
            <a:off x="897382" y="1568450"/>
            <a:ext cx="10791190" cy="2425700"/>
          </a:xfrm>
          <a:prstGeom prst="rect">
            <a:avLst/>
          </a:prstGeom>
          <a:noFill/>
          <a:ln/>
        </p:spPr>
        <p:txBody>
          <a:bodyPr wrap="square" lIns="0" tIns="0" rIns="0" bIns="0" rtlCol="0" anchor="t">
            <a:normAutofit/>
          </a:bodyPr>
          <a:lstStyle/>
          <a:p>
            <a:pPr marL="169418" indent="-169418" algn="l">
              <a:lnSpc>
                <a:spcPts val="2100"/>
              </a:lnSpc>
              <a:buSzPct val="100000"/>
              <a:buChar char="•"/>
            </a:pPr>
            <a:endParaRPr lang="en-US" sz="1400" dirty="0"/>
          </a:p>
        </p:txBody>
      </p:sp>
      <p:sp>
        <p:nvSpPr>
          <p:cNvPr id="5" name="Title 4">
            <a:extLst>
              <a:ext uri="{FF2B5EF4-FFF2-40B4-BE49-F238E27FC236}">
                <a16:creationId xmlns:a16="http://schemas.microsoft.com/office/drawing/2014/main" id="{D9F4FC10-8BEE-4577-B885-0BE1FFE47CF8}"/>
              </a:ext>
            </a:extLst>
          </p:cNvPr>
          <p:cNvSpPr>
            <a:spLocks noGrp="1"/>
          </p:cNvSpPr>
          <p:nvPr>
            <p:ph type="title"/>
          </p:nvPr>
        </p:nvSpPr>
        <p:spPr/>
        <p:txBody>
          <a:bodyPr/>
          <a:lstStyle/>
          <a:p>
            <a:r>
              <a:rPr lang="en-GB" dirty="0"/>
              <a:t>Why percy</a:t>
            </a:r>
            <a:endParaRPr lang="en-US" dirty="0"/>
          </a:p>
        </p:txBody>
      </p:sp>
      <p:sp>
        <p:nvSpPr>
          <p:cNvPr id="2" name="TextBox 1">
            <a:extLst>
              <a:ext uri="{FF2B5EF4-FFF2-40B4-BE49-F238E27FC236}">
                <a16:creationId xmlns:a16="http://schemas.microsoft.com/office/drawing/2014/main" id="{48AE517C-DC09-961C-D6FD-8C555FADB83E}"/>
              </a:ext>
            </a:extLst>
          </p:cNvPr>
          <p:cNvSpPr txBox="1"/>
          <p:nvPr/>
        </p:nvSpPr>
        <p:spPr>
          <a:xfrm>
            <a:off x="1147777" y="2781300"/>
            <a:ext cx="8685291" cy="2308324"/>
          </a:xfrm>
          <a:prstGeom prst="rect">
            <a:avLst/>
          </a:prstGeom>
          <a:noFill/>
        </p:spPr>
        <p:txBody>
          <a:bodyPr wrap="square" rtlCol="0">
            <a:spAutoFit/>
          </a:bodyPr>
          <a:lstStyle/>
          <a:p>
            <a:r>
              <a:rPr lang="en-GB" dirty="0"/>
              <a:t>I grew up with Percy Pig, and because pigs are my favourite animal, I've always felt a real connection to the brand that goes beyond the sweets. That connection makes me more likely to buy his other merchandise, not just the sweets themselves. I think this is a very good idea, because it turns a much-loved product into a character people want to collect and keep buying. It's also why I chose to study Percy Pig, since I'm a real example of how M&amp;S has built a brand that customers love.</a:t>
            </a:r>
          </a:p>
          <a:p>
            <a:pPr algn="l"/>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3">
    <p:bg>
      <p:bgPr>
        <a:solidFill>
          <a:srgbClr val="FFF5F7"/>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711200"/>
            <a:ext cx="10883392" cy="52705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2A1520"/>
                </a:solidFill>
                <a:latin typeface="Fredoka" pitchFamily="34" charset="0"/>
                <a:ea typeface="Fredoka" pitchFamily="34" charset="-122"/>
                <a:cs typeface="Fredoka" pitchFamily="34" charset="-120"/>
              </a:rPr>
              <a:t>S</a:t>
            </a:r>
            <a:r>
              <a:rPr lang="en-GB" sz="3600" b="1" i="0" dirty="0">
                <a:solidFill>
                  <a:srgbClr val="2A1520"/>
                </a:solidFill>
                <a:latin typeface="Fredoka" pitchFamily="34" charset="0"/>
                <a:ea typeface="Fredoka" pitchFamily="34" charset="-122"/>
                <a:cs typeface="Fredoka" pitchFamily="34" charset="-120"/>
              </a:rPr>
              <a:t>sources</a:t>
            </a:r>
            <a:endParaRPr lang="en-US" sz="3600" dirty="0"/>
          </a:p>
        </p:txBody>
      </p:sp>
      <p:sp>
        <p:nvSpPr>
          <p:cNvPr id="5" name="TextBox 4">
            <a:extLst>
              <a:ext uri="{FF2B5EF4-FFF2-40B4-BE49-F238E27FC236}">
                <a16:creationId xmlns:a16="http://schemas.microsoft.com/office/drawing/2014/main" id="{0109FA94-AE68-70D1-9F22-0F4613E9F086}"/>
              </a:ext>
            </a:extLst>
          </p:cNvPr>
          <p:cNvSpPr txBox="1"/>
          <p:nvPr/>
        </p:nvSpPr>
        <p:spPr>
          <a:xfrm>
            <a:off x="812800" y="1901658"/>
            <a:ext cx="6807200" cy="2516073"/>
          </a:xfrm>
          <a:prstGeom prst="rect">
            <a:avLst/>
          </a:prstGeom>
          <a:noFill/>
          <a:ln>
            <a:solidFill>
              <a:schemeClr val="tx1">
                <a:lumMod val="25000"/>
              </a:schemeClr>
            </a:solidFill>
          </a:ln>
        </p:spPr>
        <p:txBody>
          <a:bodyPr wrap="square">
            <a:spAutoFit/>
          </a:bodyPr>
          <a:lstStyle/>
          <a:p>
            <a:pPr marL="169418" indent="-169418" algn="l">
              <a:lnSpc>
                <a:spcPts val="2100"/>
              </a:lnSpc>
              <a:buSzPct val="100000"/>
              <a:buChar char="•"/>
            </a:pPr>
            <a:r>
              <a:rPr lang="en-US" sz="1800" u="sng" dirty="0">
                <a:solidFill>
                  <a:schemeClr val="accent2">
                    <a:lumMod val="75000"/>
                  </a:schemeClr>
                </a:solidFill>
                <a:latin typeface="DM Sans" pitchFamily="34" charset="0"/>
                <a:ea typeface="DM Sans" pitchFamily="34" charset="-122"/>
                <a:cs typeface="DM Sans" pitchFamily="34" charset="-120"/>
                <a:hlinkClick r:id="rId3">
                  <a:extLst>
                    <a:ext uri="{A12FA001-AC4F-418D-AE19-62706E023703}">
                      <ahyp:hlinkClr xmlns:ahyp="http://schemas.microsoft.com/office/drawing/2018/hyperlinkcolor" val="tx"/>
                    </a:ext>
                  </a:extLst>
                </a:hlinkClick>
              </a:rPr>
              <a:t>Creative Review: An oral history of Percy Pig</a:t>
            </a:r>
            <a:endParaRPr lang="en-US" sz="1800" dirty="0">
              <a:solidFill>
                <a:schemeClr val="accent2">
                  <a:lumMod val="75000"/>
                </a:schemeClr>
              </a:solidFill>
            </a:endParaRPr>
          </a:p>
          <a:p>
            <a:pPr marL="169418" indent="-169418" algn="l">
              <a:lnSpc>
                <a:spcPts val="2100"/>
              </a:lnSpc>
              <a:buSzPct val="100000"/>
              <a:buChar char="•"/>
            </a:pPr>
            <a:r>
              <a:rPr lang="en-US" sz="1800" u="sng" dirty="0">
                <a:solidFill>
                  <a:schemeClr val="accent2">
                    <a:lumMod val="75000"/>
                  </a:schemeClr>
                </a:solidFill>
                <a:latin typeface="DM Sans" pitchFamily="34" charset="0"/>
                <a:ea typeface="DM Sans" pitchFamily="34" charset="-122"/>
                <a:cs typeface="DM Sans" pitchFamily="34" charset="-120"/>
                <a:hlinkClick r:id="rId4">
                  <a:extLst>
                    <a:ext uri="{A12FA001-AC4F-418D-AE19-62706E023703}">
                      <ahyp:hlinkClr xmlns:ahyp="http://schemas.microsoft.com/office/drawing/2018/hyperlinkcolor" val="tx"/>
                    </a:ext>
                  </a:extLst>
                </a:hlinkClick>
              </a:rPr>
              <a:t>The Star: Percy Pig turns 30</a:t>
            </a:r>
            <a:endParaRPr lang="en-US" sz="1800" dirty="0">
              <a:solidFill>
                <a:schemeClr val="accent2">
                  <a:lumMod val="75000"/>
                </a:schemeClr>
              </a:solidFill>
            </a:endParaRPr>
          </a:p>
          <a:p>
            <a:pPr marL="169418" indent="-169418" algn="l">
              <a:lnSpc>
                <a:spcPts val="2100"/>
              </a:lnSpc>
              <a:buSzPct val="100000"/>
              <a:buChar char="•"/>
            </a:pPr>
            <a:r>
              <a:rPr lang="en-US" sz="1800" u="sng" dirty="0">
                <a:solidFill>
                  <a:schemeClr val="accent2">
                    <a:lumMod val="75000"/>
                  </a:schemeClr>
                </a:solidFill>
                <a:latin typeface="DM Sans" pitchFamily="34" charset="0"/>
                <a:ea typeface="DM Sans" pitchFamily="34" charset="-122"/>
                <a:cs typeface="DM Sans" pitchFamily="34" charset="-120"/>
                <a:hlinkClick r:id="rId5">
                  <a:extLst>
                    <a:ext uri="{A12FA001-AC4F-418D-AE19-62706E023703}">
                      <ahyp:hlinkClr xmlns:ahyp="http://schemas.microsoft.com/office/drawing/2018/hyperlinkcolor" val="tx"/>
                    </a:ext>
                  </a:extLst>
                </a:hlinkClick>
              </a:rPr>
              <a:t>Marketing Week: M&amp;S ramps up brand character focus</a:t>
            </a:r>
            <a:endParaRPr lang="en-US" sz="1800" dirty="0">
              <a:solidFill>
                <a:schemeClr val="accent2">
                  <a:lumMod val="75000"/>
                </a:schemeClr>
              </a:solidFill>
            </a:endParaRPr>
          </a:p>
          <a:p>
            <a:pPr marL="169418" indent="-169418" algn="l">
              <a:lnSpc>
                <a:spcPts val="2100"/>
              </a:lnSpc>
              <a:buSzPct val="100000"/>
              <a:buChar char="•"/>
            </a:pPr>
            <a:r>
              <a:rPr lang="en-US" sz="1800" u="sng" dirty="0">
                <a:solidFill>
                  <a:schemeClr val="accent2">
                    <a:lumMod val="75000"/>
                  </a:schemeClr>
                </a:solidFill>
                <a:latin typeface="DM Sans" pitchFamily="34" charset="0"/>
                <a:ea typeface="DM Sans" pitchFamily="34" charset="-122"/>
                <a:cs typeface="DM Sans" pitchFamily="34" charset="-120"/>
                <a:hlinkClick r:id="rId6">
                  <a:extLst>
                    <a:ext uri="{A12FA001-AC4F-418D-AE19-62706E023703}">
                      <ahyp:hlinkClr xmlns:ahyp="http://schemas.microsoft.com/office/drawing/2018/hyperlinkcolor" val="tx"/>
                    </a:ext>
                  </a:extLst>
                </a:hlinkClick>
              </a:rPr>
              <a:t>Retail Gazette: </a:t>
            </a:r>
            <a:r>
              <a:rPr lang="en-US" sz="1800" u="sng" dirty="0" err="1">
                <a:solidFill>
                  <a:schemeClr val="accent2">
                    <a:lumMod val="75000"/>
                  </a:schemeClr>
                </a:solidFill>
                <a:latin typeface="DM Sans" pitchFamily="34" charset="0"/>
                <a:ea typeface="DM Sans" pitchFamily="34" charset="-122"/>
                <a:cs typeface="DM Sans" pitchFamily="34" charset="-120"/>
                <a:hlinkClick r:id="rId6">
                  <a:extLst>
                    <a:ext uri="{A12FA001-AC4F-418D-AE19-62706E023703}">
                      <ahyp:hlinkClr xmlns:ahyp="http://schemas.microsoft.com/office/drawing/2018/hyperlinkcolor" val="tx"/>
                    </a:ext>
                  </a:extLst>
                </a:hlinkClick>
              </a:rPr>
              <a:t>Swizzels</a:t>
            </a:r>
            <a:r>
              <a:rPr lang="en-US" sz="1800" u="sng" dirty="0">
                <a:solidFill>
                  <a:schemeClr val="accent2">
                    <a:lumMod val="75000"/>
                  </a:schemeClr>
                </a:solidFill>
                <a:latin typeface="DM Sans" pitchFamily="34" charset="0"/>
                <a:ea typeface="DM Sans" pitchFamily="34" charset="-122"/>
                <a:cs typeface="DM Sans" pitchFamily="34" charset="-120"/>
                <a:hlinkClick r:id="rId6">
                  <a:extLst>
                    <a:ext uri="{A12FA001-AC4F-418D-AE19-62706E023703}">
                      <ahyp:hlinkClr xmlns:ahyp="http://schemas.microsoft.com/office/drawing/2018/hyperlinkcolor" val="tx"/>
                    </a:ext>
                  </a:extLst>
                </a:hlinkClick>
              </a:rPr>
              <a:t> agrees to redesign rival sweets</a:t>
            </a:r>
            <a:endParaRPr lang="en-US" sz="1800" dirty="0">
              <a:solidFill>
                <a:schemeClr val="accent2">
                  <a:lumMod val="75000"/>
                </a:schemeClr>
              </a:solidFill>
            </a:endParaRPr>
          </a:p>
          <a:p>
            <a:pPr marL="169418" indent="-169418" algn="l">
              <a:lnSpc>
                <a:spcPts val="2100"/>
              </a:lnSpc>
              <a:buSzPct val="100000"/>
              <a:buChar char="•"/>
            </a:pPr>
            <a:r>
              <a:rPr lang="en-US" sz="1800" u="sng" dirty="0">
                <a:solidFill>
                  <a:schemeClr val="accent2">
                    <a:lumMod val="75000"/>
                  </a:schemeClr>
                </a:solidFill>
                <a:latin typeface="DM Sans" pitchFamily="34" charset="0"/>
                <a:ea typeface="DM Sans" pitchFamily="34" charset="-122"/>
                <a:cs typeface="DM Sans" pitchFamily="34" charset="-120"/>
                <a:hlinkClick r:id="rId7">
                  <a:extLst>
                    <a:ext uri="{A12FA001-AC4F-418D-AE19-62706E023703}">
                      <ahyp:hlinkClr xmlns:ahyp="http://schemas.microsoft.com/office/drawing/2018/hyperlinkcolor" val="tx"/>
                    </a:ext>
                  </a:extLst>
                </a:hlinkClick>
              </a:rPr>
              <a:t>The Guardian: </a:t>
            </a:r>
            <a:r>
              <a:rPr lang="en-US" sz="1800" u="sng" dirty="0" err="1">
                <a:solidFill>
                  <a:schemeClr val="accent2">
                    <a:lumMod val="75000"/>
                  </a:schemeClr>
                </a:solidFill>
                <a:latin typeface="DM Sans" pitchFamily="34" charset="0"/>
                <a:ea typeface="DM Sans" pitchFamily="34" charset="-122"/>
                <a:cs typeface="DM Sans" pitchFamily="34" charset="-120"/>
                <a:hlinkClick r:id="rId7">
                  <a:extLst>
                    <a:ext uri="{A12FA001-AC4F-418D-AE19-62706E023703}">
                      <ahyp:hlinkClr xmlns:ahyp="http://schemas.microsoft.com/office/drawing/2018/hyperlinkcolor" val="tx"/>
                    </a:ext>
                  </a:extLst>
                </a:hlinkClick>
              </a:rPr>
              <a:t>Swizzels</a:t>
            </a:r>
            <a:r>
              <a:rPr lang="en-US" sz="1800" u="sng" dirty="0">
                <a:solidFill>
                  <a:schemeClr val="accent2">
                    <a:lumMod val="75000"/>
                  </a:schemeClr>
                </a:solidFill>
                <a:latin typeface="DM Sans" pitchFamily="34" charset="0"/>
                <a:ea typeface="DM Sans" pitchFamily="34" charset="-122"/>
                <a:cs typeface="DM Sans" pitchFamily="34" charset="-120"/>
                <a:hlinkClick r:id="rId7">
                  <a:extLst>
                    <a:ext uri="{A12FA001-AC4F-418D-AE19-62706E023703}">
                      <ahyp:hlinkClr xmlns:ahyp="http://schemas.microsoft.com/office/drawing/2018/hyperlinkcolor" val="tx"/>
                    </a:ext>
                  </a:extLst>
                </a:hlinkClick>
              </a:rPr>
              <a:t> agrees to change design</a:t>
            </a:r>
            <a:endParaRPr lang="en-US" sz="1800" dirty="0">
              <a:solidFill>
                <a:schemeClr val="accent2">
                  <a:lumMod val="75000"/>
                </a:schemeClr>
              </a:solidFill>
            </a:endParaRPr>
          </a:p>
          <a:p>
            <a:pPr marL="169418" indent="-169418" algn="l">
              <a:lnSpc>
                <a:spcPts val="2100"/>
              </a:lnSpc>
              <a:buSzPct val="100000"/>
              <a:buChar char="•"/>
            </a:pPr>
            <a:r>
              <a:rPr lang="en-US" sz="1800" u="sng" dirty="0">
                <a:solidFill>
                  <a:schemeClr val="accent2">
                    <a:lumMod val="75000"/>
                  </a:schemeClr>
                </a:solidFill>
                <a:latin typeface="DM Sans" pitchFamily="34" charset="0"/>
                <a:ea typeface="DM Sans" pitchFamily="34" charset="-122"/>
                <a:cs typeface="DM Sans" pitchFamily="34" charset="-120"/>
                <a:hlinkClick r:id="rId8">
                  <a:extLst>
                    <a:ext uri="{A12FA001-AC4F-418D-AE19-62706E023703}">
                      <ahyp:hlinkClr xmlns:ahyp="http://schemas.microsoft.com/office/drawing/2018/hyperlinkcolor" val="tx"/>
                    </a:ext>
                  </a:extLst>
                </a:hlinkClick>
              </a:rPr>
              <a:t>Wikipedia: Percy Pig</a:t>
            </a:r>
            <a:endParaRPr lang="en-US" sz="1800" dirty="0">
              <a:solidFill>
                <a:schemeClr val="accent2">
                  <a:lumMod val="75000"/>
                </a:schemeClr>
              </a:solidFill>
            </a:endParaRPr>
          </a:p>
          <a:p>
            <a:pPr marL="169418" indent="-169418" algn="l">
              <a:lnSpc>
                <a:spcPts val="2100"/>
              </a:lnSpc>
              <a:buSzPct val="100000"/>
              <a:buChar char="•"/>
            </a:pPr>
            <a:r>
              <a:rPr lang="en-US" sz="1800" u="sng" dirty="0">
                <a:solidFill>
                  <a:schemeClr val="accent2">
                    <a:lumMod val="75000"/>
                  </a:schemeClr>
                </a:solidFill>
                <a:latin typeface="DM Sans" pitchFamily="34" charset="0"/>
                <a:ea typeface="DM Sans" pitchFamily="34" charset="-122"/>
                <a:cs typeface="DM Sans" pitchFamily="34" charset="-120"/>
                <a:hlinkClick r:id="rId9">
                  <a:extLst>
                    <a:ext uri="{A12FA001-AC4F-418D-AE19-62706E023703}">
                      <ahyp:hlinkClr xmlns:ahyp="http://schemas.microsoft.com/office/drawing/2018/hyperlinkcolor" val="tx"/>
                    </a:ext>
                  </a:extLst>
                </a:hlinkClick>
              </a:rPr>
              <a:t>ESM Magazine: M&amp;S food range in Australia with Coles</a:t>
            </a:r>
            <a:endParaRPr lang="en-US" sz="1800" dirty="0">
              <a:solidFill>
                <a:schemeClr val="accent2">
                  <a:lumMod val="75000"/>
                </a:schemeClr>
              </a:solidFill>
            </a:endParaRPr>
          </a:p>
          <a:p>
            <a:pPr marL="169418" indent="-169418" algn="l">
              <a:lnSpc>
                <a:spcPts val="2100"/>
              </a:lnSpc>
              <a:buSzPct val="100000"/>
              <a:buChar char="•"/>
            </a:pPr>
            <a:r>
              <a:rPr lang="en-US" sz="1800" u="sng" dirty="0">
                <a:solidFill>
                  <a:schemeClr val="accent2">
                    <a:lumMod val="75000"/>
                  </a:schemeClr>
                </a:solidFill>
                <a:latin typeface="DM Sans" pitchFamily="34" charset="0"/>
                <a:ea typeface="DM Sans" pitchFamily="34" charset="-122"/>
                <a:cs typeface="DM Sans" pitchFamily="34" charset="-120"/>
                <a:hlinkClick r:id="rId10">
                  <a:extLst>
                    <a:ext uri="{A12FA001-AC4F-418D-AE19-62706E023703}">
                      <ahyp:hlinkClr xmlns:ahyp="http://schemas.microsoft.com/office/drawing/2018/hyperlinkcolor" val="tx"/>
                    </a:ext>
                  </a:extLst>
                </a:hlinkClick>
              </a:rPr>
              <a:t>Retail Times: M&amp;S Food launches in Coles</a:t>
            </a:r>
            <a:endParaRPr lang="en-US" sz="1800" dirty="0">
              <a:solidFill>
                <a:schemeClr val="accent2">
                  <a:lumMod val="75000"/>
                </a:schemeClr>
              </a:solidFill>
            </a:endParaRPr>
          </a:p>
          <a:p>
            <a:pPr marL="169418" indent="-169418" algn="l">
              <a:lnSpc>
                <a:spcPts val="2100"/>
              </a:lnSpc>
              <a:buSzPct val="100000"/>
              <a:buChar char="•"/>
            </a:pPr>
            <a:r>
              <a:rPr lang="en-US" sz="1800" u="sng" dirty="0">
                <a:solidFill>
                  <a:schemeClr val="accent2">
                    <a:lumMod val="75000"/>
                  </a:schemeClr>
                </a:solidFill>
                <a:latin typeface="DM Sans" pitchFamily="34" charset="0"/>
                <a:ea typeface="DM Sans" pitchFamily="34" charset="-122"/>
                <a:cs typeface="DM Sans" pitchFamily="34" charset="-120"/>
                <a:hlinkClick r:id="rId11">
                  <a:extLst>
                    <a:ext uri="{A12FA001-AC4F-418D-AE19-62706E023703}">
                      <ahyp:hlinkClr xmlns:ahyp="http://schemas.microsoft.com/office/drawing/2018/hyperlinkcolor" val="tx"/>
                    </a:ext>
                  </a:extLst>
                </a:hlinkClick>
              </a:rPr>
              <a:t>ESM Magazine: M&amp;S sells in over 150 countries</a:t>
            </a:r>
            <a:endParaRPr lang="en-US" sz="1800" dirty="0">
              <a:solidFill>
                <a:schemeClr val="accent2">
                  <a:lumMod val="75000"/>
                </a:schemeClr>
              </a:solidFill>
            </a:endParaRPr>
          </a:p>
        </p:txBody>
      </p:sp>
    </p:spTree>
  </p:cSld>
  <p:clrMapOvr>
    <a:masterClrMapping/>
  </p:clrMapOvr>
</p:sld>
</file>

<file path=ppt/theme/theme1.xml><?xml version="1.0" encoding="utf-8"?>
<a:theme xmlns:a="http://schemas.openxmlformats.org/drawingml/2006/main" name="Why Percy Pig Works">
  <a:themeElements>
    <a:clrScheme name="Why Percy Pig Works">
      <a:dk1>
        <a:srgbClr val="2A1520"/>
      </a:dk1>
      <a:lt1>
        <a:srgbClr val="FFE3EC"/>
      </a:lt1>
      <a:dk2>
        <a:srgbClr val="3F2A34"/>
      </a:dk2>
      <a:lt2>
        <a:srgbClr val="CAB0B9"/>
      </a:lt2>
      <a:accent1>
        <a:srgbClr val="C2255C"/>
      </a:accent1>
      <a:accent2>
        <a:srgbClr val="FF8FB1"/>
      </a:accent2>
      <a:accent3>
        <a:srgbClr val="5E3F4C"/>
      </a:accent3>
      <a:accent4>
        <a:srgbClr val="E8C3D0"/>
      </a:accent4>
      <a:accent5>
        <a:srgbClr val="6B4A58"/>
      </a:accent5>
      <a:accent6>
        <a:srgbClr val="9AA0A6"/>
      </a:accent6>
      <a:hlink>
        <a:srgbClr val="0563C1"/>
      </a:hlink>
      <a:folHlink>
        <a:srgbClr val="954F72"/>
      </a:folHlink>
    </a:clrScheme>
    <a:fontScheme name="Why Percy Pig Works">
      <a:majorFont>
        <a:latin typeface="Fredok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10</Slides>
  <Notes>10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Why Percy Pig Works</vt:lpstr>
      <vt:lpstr>Why Percy Pig Works</vt:lpstr>
      <vt:lpstr>Why does one sweet become a brand?</vt:lpstr>
      <vt:lpstr>This is no niche sweet</vt:lpstr>
      <vt:lpstr>He is a character, not just a product</vt:lpstr>
      <vt:lpstr>The range keeps stretching</vt:lpstr>
      <vt:lpstr>Fans care, and M&amp;S protects the brand</vt:lpstr>
      <vt:lpstr>Percy is going global</vt:lpstr>
      <vt:lpstr>What M&amp;S can learn from Percy</vt:lpstr>
      <vt:lpstr>Why percy</vt:lpstr>
      <vt:lpstr>Ssources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Why Percy Pig Works</dc:title>
  <dc:subject/>
  <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DM Sans
Copyright 2014 The DM Sans Project Authors (https://github.com/googlefonts/dm-fonts)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Fredoka
Copyright 2016 The Fredoka Project Authors (https://github.com/hafontia/Fredoka-One)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cp:lastModifiedBy>UG-Hemmings, Eila</cp:lastModifiedBy>
  <cp:revision>3</cp:revision>
  <dcterms:created xsi:type="dcterms:W3CDTF">2026-10-21T23:21:11Z</dcterms:created>
  <dcterms:modified xsi:type="dcterms:W3CDTF">2026-10-21T23:30:41Z</dcterms:modified>
</cp:coreProperties>
</file>